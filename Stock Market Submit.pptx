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7" r:id="rId2"/>
    <p:sldId id="258" r:id="rId3"/>
    <p:sldId id="260" r:id="rId4"/>
    <p:sldId id="259" r:id="rId5"/>
    <p:sldId id="261" r:id="rId6"/>
    <p:sldId id="262" r:id="rId7"/>
    <p:sldId id="263" r:id="rId8"/>
    <p:sldId id="264" r:id="rId9"/>
    <p:sldId id="265" r:id="rId10"/>
    <p:sldId id="272" r:id="rId11"/>
    <p:sldId id="269" r:id="rId12"/>
    <p:sldId id="273" r:id="rId13"/>
  </p:sldIdLst>
  <p:sldSz cx="9144000" cy="5143500" type="screen16x9"/>
  <p:notesSz cx="6858000" cy="9144000"/>
  <p:embeddedFontLst>
    <p:embeddedFont>
      <p:font typeface="Aparajita" panose="02020603050405020304" pitchFamily="18" charset="0"/>
      <p:regular r:id="rId15"/>
      <p:bold r:id="rId16"/>
      <p:italic r:id="rId17"/>
      <p:boldItalic r:id="rId18"/>
    </p:embeddedFont>
    <p:embeddedFont>
      <p:font typeface="Impact" panose="020B0806030902050204" pitchFamily="34" charset="0"/>
      <p:regular r:id="rId19"/>
    </p:embeddedFont>
    <p:embeddedFont>
      <p:font typeface="Lato" panose="020F0502020204030203" pitchFamily="34" charset="0"/>
      <p:regular r:id="rId20"/>
      <p:bold r:id="rId21"/>
      <p:italic r:id="rId22"/>
      <p:boldItalic r:id="rId23"/>
    </p:embeddedFont>
    <p:embeddedFont>
      <p:font typeface="Lexend" pitchFamily="2" charset="77"/>
      <p:regular r:id="rId24"/>
      <p:bold r:id="rId25"/>
    </p:embeddedFont>
    <p:embeddedFont>
      <p:font typeface="Montserrat" pitchFamily="2" charset="77"/>
      <p:regular r:id="rId26"/>
      <p:bold r:id="rId27"/>
      <p:italic r:id="rId28"/>
      <p:boldItalic r:id="rId29"/>
    </p:embeddedFont>
    <p:embeddedFont>
      <p:font typeface="Montserrat ExtraBold" panose="00000900000000000000" pitchFamily="2" charset="77"/>
      <p:bold r:id="rId30"/>
      <p:italic r:id="rId31"/>
      <p:boldItalic r:id="rId32"/>
    </p:embeddedFont>
    <p:embeddedFont>
      <p:font typeface="Montserrat SemiBold" panose="00000700000000000000" pitchFamily="2" charset="77"/>
      <p:regular r:id="rId33"/>
      <p:bold r:id="rId34"/>
      <p:italic r:id="rId35"/>
      <p:boldItalic r:id="rId36"/>
    </p:embeddedFont>
    <p:embeddedFont>
      <p:font typeface="Trebuchet MS" panose="020B0703020202090204" pitchFamily="34" charset="0"/>
      <p:regular r:id="rId37"/>
      <p:bold r:id="rId38"/>
      <p:italic r:id="rId39"/>
      <p:boldItalic r:id="rId40"/>
    </p:embeddedFont>
    <p:embeddedFont>
      <p:font typeface="Tw Cen MT" panose="020B0602020104020603" pitchFamily="34" charset="77"/>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94658"/>
  </p:normalViewPr>
  <p:slideViewPr>
    <p:cSldViewPr snapToGrid="0">
      <p:cViewPr varScale="1">
        <p:scale>
          <a:sx n="160" d="100"/>
          <a:sy n="160" d="100"/>
        </p:scale>
        <p:origin x="168"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font" Target="fonts/font25.fntdata"/><Relationship Id="rId21" Type="http://schemas.openxmlformats.org/officeDocument/2006/relationships/font" Target="fonts/font7.fntdata"/><Relationship Id="rId34" Type="http://schemas.openxmlformats.org/officeDocument/2006/relationships/font" Target="fonts/font20.fntdata"/><Relationship Id="rId42" Type="http://schemas.openxmlformats.org/officeDocument/2006/relationships/font" Target="fonts/font28.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2.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font" Target="fonts/font23.fntdata"/><Relationship Id="rId40" Type="http://schemas.openxmlformats.org/officeDocument/2006/relationships/font" Target="fonts/font26.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font" Target="fonts/font22.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4" Type="http://schemas.openxmlformats.org/officeDocument/2006/relationships/font" Target="fonts/font3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font" Target="fonts/font21.fntdata"/><Relationship Id="rId43" Type="http://schemas.openxmlformats.org/officeDocument/2006/relationships/font" Target="fonts/font29.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font" Target="fonts/font24.fntdata"/><Relationship Id="rId46" Type="http://schemas.openxmlformats.org/officeDocument/2006/relationships/viewProps" Target="viewProps.xml"/><Relationship Id="rId20" Type="http://schemas.openxmlformats.org/officeDocument/2006/relationships/font" Target="fonts/font6.fntdata"/><Relationship Id="rId41" Type="http://schemas.openxmlformats.org/officeDocument/2006/relationships/font" Target="fonts/font27.fntdata"/></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471DB9-E911-4021-9CD3-7B70153ABB30}"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9A94829A-858C-4FCF-9360-1B3CE49361B4}">
      <dgm:prSet/>
      <dgm:spPr/>
      <dgm:t>
        <a:bodyPr/>
        <a:lstStyle/>
        <a:p>
          <a:r>
            <a:rPr lang="en-IN" b="1" dirty="0">
              <a:latin typeface="Aparajita" panose="02020603050405020304" pitchFamily="18" charset="0"/>
              <a:cs typeface="Aparajita" panose="02020603050405020304" pitchFamily="18" charset="0"/>
            </a:rPr>
            <a:t>KPI values showing blank or incorrect percentages</a:t>
          </a:r>
          <a:endParaRPr lang="en-US" b="1" dirty="0">
            <a:latin typeface="Aparajita" panose="02020603050405020304" pitchFamily="18" charset="0"/>
            <a:cs typeface="Aparajita" panose="02020603050405020304" pitchFamily="18" charset="0"/>
          </a:endParaRPr>
        </a:p>
      </dgm:t>
    </dgm:pt>
    <dgm:pt modelId="{22906B14-240D-40E2-B28F-BEDE86E58872}" type="parTrans" cxnId="{FF1E2E5A-FB8D-4B5A-93B6-511F73BAECF2}">
      <dgm:prSet/>
      <dgm:spPr/>
      <dgm:t>
        <a:bodyPr/>
        <a:lstStyle/>
        <a:p>
          <a:endParaRPr lang="en-US"/>
        </a:p>
      </dgm:t>
    </dgm:pt>
    <dgm:pt modelId="{64D27DA7-1562-4136-BE06-FD2C1891D61E}" type="sibTrans" cxnId="{FF1E2E5A-FB8D-4B5A-93B6-511F73BAECF2}">
      <dgm:prSet/>
      <dgm:spPr/>
      <dgm:t>
        <a:bodyPr/>
        <a:lstStyle/>
        <a:p>
          <a:endParaRPr lang="en-US"/>
        </a:p>
      </dgm:t>
    </dgm:pt>
    <dgm:pt modelId="{016C1B63-7FF7-494C-B889-9398A733C8CB}">
      <dgm:prSet/>
      <dgm:spPr/>
      <dgm:t>
        <a:bodyPr/>
        <a:lstStyle/>
        <a:p>
          <a:r>
            <a:rPr lang="en-IN" b="1" dirty="0">
              <a:latin typeface="Aparajita" panose="02020603050405020304" pitchFamily="18" charset="0"/>
              <a:cs typeface="Aparajita" panose="02020603050405020304" pitchFamily="18" charset="0"/>
            </a:rPr>
            <a:t>Aggregation-level mismatch across tools</a:t>
          </a:r>
          <a:endParaRPr lang="en-US" b="1" dirty="0">
            <a:latin typeface="Aparajita" panose="02020603050405020304" pitchFamily="18" charset="0"/>
            <a:cs typeface="Aparajita" panose="02020603050405020304" pitchFamily="18" charset="0"/>
          </a:endParaRPr>
        </a:p>
      </dgm:t>
    </dgm:pt>
    <dgm:pt modelId="{AF63B529-405B-48E7-8286-DD8C82F4E8B4}" type="parTrans" cxnId="{6A950E4A-20D0-459B-B9B7-839E9EE8EF47}">
      <dgm:prSet/>
      <dgm:spPr/>
      <dgm:t>
        <a:bodyPr/>
        <a:lstStyle/>
        <a:p>
          <a:endParaRPr lang="en-US"/>
        </a:p>
      </dgm:t>
    </dgm:pt>
    <dgm:pt modelId="{12DCA2DD-6083-44E8-9968-9180E8AD18A2}" type="sibTrans" cxnId="{6A950E4A-20D0-459B-B9B7-839E9EE8EF47}">
      <dgm:prSet/>
      <dgm:spPr/>
      <dgm:t>
        <a:bodyPr/>
        <a:lstStyle/>
        <a:p>
          <a:endParaRPr lang="en-US"/>
        </a:p>
      </dgm:t>
    </dgm:pt>
    <dgm:pt modelId="{1E7463CB-BF16-4A85-BB78-53097871C7E9}">
      <dgm:prSet/>
      <dgm:spPr/>
      <dgm:t>
        <a:bodyPr/>
        <a:lstStyle/>
        <a:p>
          <a:r>
            <a:rPr lang="en-IN" b="1" dirty="0">
              <a:latin typeface="Aparajita" panose="02020603050405020304" pitchFamily="18" charset="0"/>
              <a:cs typeface="Aparajita" panose="02020603050405020304" pitchFamily="18" charset="0"/>
            </a:rPr>
            <a:t>Relationship confusion between tables</a:t>
          </a:r>
          <a:endParaRPr lang="en-US" b="1" dirty="0">
            <a:latin typeface="Aparajita" panose="02020603050405020304" pitchFamily="18" charset="0"/>
            <a:cs typeface="Aparajita" panose="02020603050405020304" pitchFamily="18" charset="0"/>
          </a:endParaRPr>
        </a:p>
      </dgm:t>
    </dgm:pt>
    <dgm:pt modelId="{322CCED3-01DB-4AAB-938C-9B6289751C48}" type="parTrans" cxnId="{92DB32D8-4A2B-41DC-98C2-8B6A679A8BA8}">
      <dgm:prSet/>
      <dgm:spPr/>
      <dgm:t>
        <a:bodyPr/>
        <a:lstStyle/>
        <a:p>
          <a:endParaRPr lang="en-US"/>
        </a:p>
      </dgm:t>
    </dgm:pt>
    <dgm:pt modelId="{5F2431E8-1F2D-4D29-92C8-001B2781120C}" type="sibTrans" cxnId="{92DB32D8-4A2B-41DC-98C2-8B6A679A8BA8}">
      <dgm:prSet/>
      <dgm:spPr/>
      <dgm:t>
        <a:bodyPr/>
        <a:lstStyle/>
        <a:p>
          <a:endParaRPr lang="en-US"/>
        </a:p>
      </dgm:t>
    </dgm:pt>
    <dgm:pt modelId="{2262EA93-E223-4428-A53D-118BC4E9CF01}">
      <dgm:prSet/>
      <dgm:spPr/>
      <dgm:t>
        <a:bodyPr/>
        <a:lstStyle/>
        <a:p>
          <a:r>
            <a:rPr lang="en-IN" b="1" dirty="0">
              <a:latin typeface="Aparajita" panose="02020603050405020304" pitchFamily="18" charset="0"/>
              <a:cs typeface="Aparajita" panose="02020603050405020304" pitchFamily="18" charset="0"/>
            </a:rPr>
            <a:t>Inconsistent results between Excel and Power BI</a:t>
          </a:r>
          <a:endParaRPr lang="en-US" b="1" dirty="0">
            <a:latin typeface="Aparajita" panose="02020603050405020304" pitchFamily="18" charset="0"/>
            <a:cs typeface="Aparajita" panose="02020603050405020304" pitchFamily="18" charset="0"/>
          </a:endParaRPr>
        </a:p>
      </dgm:t>
    </dgm:pt>
    <dgm:pt modelId="{E8DD834C-DAF4-4944-9414-380A2EE08A70}" type="parTrans" cxnId="{EFC35430-401C-48C5-8CFB-5A0DF6051393}">
      <dgm:prSet/>
      <dgm:spPr/>
      <dgm:t>
        <a:bodyPr/>
        <a:lstStyle/>
        <a:p>
          <a:endParaRPr lang="en-US"/>
        </a:p>
      </dgm:t>
    </dgm:pt>
    <dgm:pt modelId="{C7493227-5ADA-4285-9A2F-004AB99BD1C3}" type="sibTrans" cxnId="{EFC35430-401C-48C5-8CFB-5A0DF6051393}">
      <dgm:prSet/>
      <dgm:spPr/>
      <dgm:t>
        <a:bodyPr/>
        <a:lstStyle/>
        <a:p>
          <a:endParaRPr lang="en-US"/>
        </a:p>
      </dgm:t>
    </dgm:pt>
    <dgm:pt modelId="{DFCD8D02-9FDF-41AF-85BA-B69BE40B3956}">
      <dgm:prSet/>
      <dgm:spPr/>
      <dgm:t>
        <a:bodyPr/>
        <a:lstStyle/>
        <a:p>
          <a:r>
            <a:rPr lang="en-IN" b="1" dirty="0">
              <a:latin typeface="Aparajita" panose="02020603050405020304" pitchFamily="18" charset="0"/>
              <a:cs typeface="Aparajita" panose="02020603050405020304" pitchFamily="18" charset="0"/>
            </a:rPr>
            <a:t>Difficulty calculating risk-adjusted metrics like the Sharpe Ratio</a:t>
          </a:r>
          <a:endParaRPr lang="en-US" b="1" dirty="0">
            <a:latin typeface="Aparajita" panose="02020603050405020304" pitchFamily="18" charset="0"/>
            <a:cs typeface="Aparajita" panose="02020603050405020304" pitchFamily="18" charset="0"/>
          </a:endParaRPr>
        </a:p>
      </dgm:t>
    </dgm:pt>
    <dgm:pt modelId="{4692B1CB-BC72-41E7-A031-EDA1A048E16E}" type="parTrans" cxnId="{6AF87F80-7899-46A7-8D81-F250054A5BBA}">
      <dgm:prSet/>
      <dgm:spPr/>
      <dgm:t>
        <a:bodyPr/>
        <a:lstStyle/>
        <a:p>
          <a:endParaRPr lang="en-US"/>
        </a:p>
      </dgm:t>
    </dgm:pt>
    <dgm:pt modelId="{3E25F038-2CEA-4B45-8F96-0BCD096A76D3}" type="sibTrans" cxnId="{6AF87F80-7899-46A7-8D81-F250054A5BBA}">
      <dgm:prSet/>
      <dgm:spPr/>
      <dgm:t>
        <a:bodyPr/>
        <a:lstStyle/>
        <a:p>
          <a:endParaRPr lang="en-US"/>
        </a:p>
      </dgm:t>
    </dgm:pt>
    <dgm:pt modelId="{BCEB5D3A-A0EA-E247-BBC7-B90AF7DB559F}" type="pres">
      <dgm:prSet presAssocID="{CC471DB9-E911-4021-9CD3-7B70153ABB30}" presName="diagram" presStyleCnt="0">
        <dgm:presLayoutVars>
          <dgm:dir/>
          <dgm:resizeHandles val="exact"/>
        </dgm:presLayoutVars>
      </dgm:prSet>
      <dgm:spPr/>
    </dgm:pt>
    <dgm:pt modelId="{74A6F4F5-5863-CC44-9898-DB52F78F36E3}" type="pres">
      <dgm:prSet presAssocID="{9A94829A-858C-4FCF-9360-1B3CE49361B4}" presName="node" presStyleLbl="node1" presStyleIdx="0" presStyleCnt="5">
        <dgm:presLayoutVars>
          <dgm:bulletEnabled val="1"/>
        </dgm:presLayoutVars>
      </dgm:prSet>
      <dgm:spPr/>
    </dgm:pt>
    <dgm:pt modelId="{7350DCAF-0160-EA4D-A79A-2A2ECE10D72C}" type="pres">
      <dgm:prSet presAssocID="{64D27DA7-1562-4136-BE06-FD2C1891D61E}" presName="sibTrans" presStyleCnt="0"/>
      <dgm:spPr/>
    </dgm:pt>
    <dgm:pt modelId="{0B431BC6-22F8-084F-84CC-31F9786ADA6B}" type="pres">
      <dgm:prSet presAssocID="{016C1B63-7FF7-494C-B889-9398A733C8CB}" presName="node" presStyleLbl="node1" presStyleIdx="1" presStyleCnt="5">
        <dgm:presLayoutVars>
          <dgm:bulletEnabled val="1"/>
        </dgm:presLayoutVars>
      </dgm:prSet>
      <dgm:spPr/>
    </dgm:pt>
    <dgm:pt modelId="{00237AFD-9814-004D-859F-0DAF60290ACC}" type="pres">
      <dgm:prSet presAssocID="{12DCA2DD-6083-44E8-9968-9180E8AD18A2}" presName="sibTrans" presStyleCnt="0"/>
      <dgm:spPr/>
    </dgm:pt>
    <dgm:pt modelId="{CD4BD572-377A-0046-BC75-4BCBE8A73024}" type="pres">
      <dgm:prSet presAssocID="{1E7463CB-BF16-4A85-BB78-53097871C7E9}" presName="node" presStyleLbl="node1" presStyleIdx="2" presStyleCnt="5">
        <dgm:presLayoutVars>
          <dgm:bulletEnabled val="1"/>
        </dgm:presLayoutVars>
      </dgm:prSet>
      <dgm:spPr/>
    </dgm:pt>
    <dgm:pt modelId="{1BEB91C5-2B64-5C4B-97DF-3138EF6E9FEE}" type="pres">
      <dgm:prSet presAssocID="{5F2431E8-1F2D-4D29-92C8-001B2781120C}" presName="sibTrans" presStyleCnt="0"/>
      <dgm:spPr/>
    </dgm:pt>
    <dgm:pt modelId="{DAE1501D-A289-324B-9DBF-8A3FF12B8B7F}" type="pres">
      <dgm:prSet presAssocID="{2262EA93-E223-4428-A53D-118BC4E9CF01}" presName="node" presStyleLbl="node1" presStyleIdx="3" presStyleCnt="5">
        <dgm:presLayoutVars>
          <dgm:bulletEnabled val="1"/>
        </dgm:presLayoutVars>
      </dgm:prSet>
      <dgm:spPr/>
    </dgm:pt>
    <dgm:pt modelId="{C4028954-DCB4-D140-ADE5-967BFA151AD2}" type="pres">
      <dgm:prSet presAssocID="{C7493227-5ADA-4285-9A2F-004AB99BD1C3}" presName="sibTrans" presStyleCnt="0"/>
      <dgm:spPr/>
    </dgm:pt>
    <dgm:pt modelId="{78935C64-0433-924B-B386-F037417D844A}" type="pres">
      <dgm:prSet presAssocID="{DFCD8D02-9FDF-41AF-85BA-B69BE40B3956}" presName="node" presStyleLbl="node1" presStyleIdx="4" presStyleCnt="5">
        <dgm:presLayoutVars>
          <dgm:bulletEnabled val="1"/>
        </dgm:presLayoutVars>
      </dgm:prSet>
      <dgm:spPr/>
    </dgm:pt>
  </dgm:ptLst>
  <dgm:cxnLst>
    <dgm:cxn modelId="{EFC35430-401C-48C5-8CFB-5A0DF6051393}" srcId="{CC471DB9-E911-4021-9CD3-7B70153ABB30}" destId="{2262EA93-E223-4428-A53D-118BC4E9CF01}" srcOrd="3" destOrd="0" parTransId="{E8DD834C-DAF4-4944-9414-380A2EE08A70}" sibTransId="{C7493227-5ADA-4285-9A2F-004AB99BD1C3}"/>
    <dgm:cxn modelId="{6A950E4A-20D0-459B-B9B7-839E9EE8EF47}" srcId="{CC471DB9-E911-4021-9CD3-7B70153ABB30}" destId="{016C1B63-7FF7-494C-B889-9398A733C8CB}" srcOrd="1" destOrd="0" parTransId="{AF63B529-405B-48E7-8286-DD8C82F4E8B4}" sibTransId="{12DCA2DD-6083-44E8-9968-9180E8AD18A2}"/>
    <dgm:cxn modelId="{FF1E2E5A-FB8D-4B5A-93B6-511F73BAECF2}" srcId="{CC471DB9-E911-4021-9CD3-7B70153ABB30}" destId="{9A94829A-858C-4FCF-9360-1B3CE49361B4}" srcOrd="0" destOrd="0" parTransId="{22906B14-240D-40E2-B28F-BEDE86E58872}" sibTransId="{64D27DA7-1562-4136-BE06-FD2C1891D61E}"/>
    <dgm:cxn modelId="{D4FBC76E-C995-F641-8794-0CAC04373795}" type="presOf" srcId="{016C1B63-7FF7-494C-B889-9398A733C8CB}" destId="{0B431BC6-22F8-084F-84CC-31F9786ADA6B}" srcOrd="0" destOrd="0" presId="urn:microsoft.com/office/officeart/2005/8/layout/default"/>
    <dgm:cxn modelId="{F481CE72-2130-A440-8627-B7CA0AEF06BD}" type="presOf" srcId="{9A94829A-858C-4FCF-9360-1B3CE49361B4}" destId="{74A6F4F5-5863-CC44-9898-DB52F78F36E3}" srcOrd="0" destOrd="0" presId="urn:microsoft.com/office/officeart/2005/8/layout/default"/>
    <dgm:cxn modelId="{6AF87F80-7899-46A7-8D81-F250054A5BBA}" srcId="{CC471DB9-E911-4021-9CD3-7B70153ABB30}" destId="{DFCD8D02-9FDF-41AF-85BA-B69BE40B3956}" srcOrd="4" destOrd="0" parTransId="{4692B1CB-BC72-41E7-A031-EDA1A048E16E}" sibTransId="{3E25F038-2CEA-4B45-8F96-0BCD096A76D3}"/>
    <dgm:cxn modelId="{8EA1299E-7802-2D49-B98D-C2F61252C5ED}" type="presOf" srcId="{DFCD8D02-9FDF-41AF-85BA-B69BE40B3956}" destId="{78935C64-0433-924B-B386-F037417D844A}" srcOrd="0" destOrd="0" presId="urn:microsoft.com/office/officeart/2005/8/layout/default"/>
    <dgm:cxn modelId="{FB78A1C6-2EE8-7D46-959C-3A9ACB5019CC}" type="presOf" srcId="{2262EA93-E223-4428-A53D-118BC4E9CF01}" destId="{DAE1501D-A289-324B-9DBF-8A3FF12B8B7F}" srcOrd="0" destOrd="0" presId="urn:microsoft.com/office/officeart/2005/8/layout/default"/>
    <dgm:cxn modelId="{70D7C5CC-6D69-6440-B4AD-45C7B7E2E922}" type="presOf" srcId="{CC471DB9-E911-4021-9CD3-7B70153ABB30}" destId="{BCEB5D3A-A0EA-E247-BBC7-B90AF7DB559F}" srcOrd="0" destOrd="0" presId="urn:microsoft.com/office/officeart/2005/8/layout/default"/>
    <dgm:cxn modelId="{9ACC08CE-49CF-FB4E-9577-4BCF274F27EF}" type="presOf" srcId="{1E7463CB-BF16-4A85-BB78-53097871C7E9}" destId="{CD4BD572-377A-0046-BC75-4BCBE8A73024}" srcOrd="0" destOrd="0" presId="urn:microsoft.com/office/officeart/2005/8/layout/default"/>
    <dgm:cxn modelId="{92DB32D8-4A2B-41DC-98C2-8B6A679A8BA8}" srcId="{CC471DB9-E911-4021-9CD3-7B70153ABB30}" destId="{1E7463CB-BF16-4A85-BB78-53097871C7E9}" srcOrd="2" destOrd="0" parTransId="{322CCED3-01DB-4AAB-938C-9B6289751C48}" sibTransId="{5F2431E8-1F2D-4D29-92C8-001B2781120C}"/>
    <dgm:cxn modelId="{A698B9A0-3A44-D145-A5FF-7FA9E4EC6017}" type="presParOf" srcId="{BCEB5D3A-A0EA-E247-BBC7-B90AF7DB559F}" destId="{74A6F4F5-5863-CC44-9898-DB52F78F36E3}" srcOrd="0" destOrd="0" presId="urn:microsoft.com/office/officeart/2005/8/layout/default"/>
    <dgm:cxn modelId="{733246B4-E8B9-8D4B-8081-F0845712048F}" type="presParOf" srcId="{BCEB5D3A-A0EA-E247-BBC7-B90AF7DB559F}" destId="{7350DCAF-0160-EA4D-A79A-2A2ECE10D72C}" srcOrd="1" destOrd="0" presId="urn:microsoft.com/office/officeart/2005/8/layout/default"/>
    <dgm:cxn modelId="{CA59454D-88AB-AD4D-BF31-1AEAF752C35C}" type="presParOf" srcId="{BCEB5D3A-A0EA-E247-BBC7-B90AF7DB559F}" destId="{0B431BC6-22F8-084F-84CC-31F9786ADA6B}" srcOrd="2" destOrd="0" presId="urn:microsoft.com/office/officeart/2005/8/layout/default"/>
    <dgm:cxn modelId="{2A2DBA21-4442-D243-9454-FA20C01ADBDF}" type="presParOf" srcId="{BCEB5D3A-A0EA-E247-BBC7-B90AF7DB559F}" destId="{00237AFD-9814-004D-859F-0DAF60290ACC}" srcOrd="3" destOrd="0" presId="urn:microsoft.com/office/officeart/2005/8/layout/default"/>
    <dgm:cxn modelId="{1FE1C6D0-968D-B94A-A222-37F61143A12A}" type="presParOf" srcId="{BCEB5D3A-A0EA-E247-BBC7-B90AF7DB559F}" destId="{CD4BD572-377A-0046-BC75-4BCBE8A73024}" srcOrd="4" destOrd="0" presId="urn:microsoft.com/office/officeart/2005/8/layout/default"/>
    <dgm:cxn modelId="{2A4EF40F-F75D-EC40-B390-7FE2170330CC}" type="presParOf" srcId="{BCEB5D3A-A0EA-E247-BBC7-B90AF7DB559F}" destId="{1BEB91C5-2B64-5C4B-97DF-3138EF6E9FEE}" srcOrd="5" destOrd="0" presId="urn:microsoft.com/office/officeart/2005/8/layout/default"/>
    <dgm:cxn modelId="{182AF284-45B5-8A40-B8B3-E1B07CF50EEE}" type="presParOf" srcId="{BCEB5D3A-A0EA-E247-BBC7-B90AF7DB559F}" destId="{DAE1501D-A289-324B-9DBF-8A3FF12B8B7F}" srcOrd="6" destOrd="0" presId="urn:microsoft.com/office/officeart/2005/8/layout/default"/>
    <dgm:cxn modelId="{52459652-3CAF-2F42-AC1C-53FE0ADD513C}" type="presParOf" srcId="{BCEB5D3A-A0EA-E247-BBC7-B90AF7DB559F}" destId="{C4028954-DCB4-D140-ADE5-967BFA151AD2}" srcOrd="7" destOrd="0" presId="urn:microsoft.com/office/officeart/2005/8/layout/default"/>
    <dgm:cxn modelId="{7DD47B82-91FF-154C-A470-D98930145D52}" type="presParOf" srcId="{BCEB5D3A-A0EA-E247-BBC7-B90AF7DB559F}" destId="{78935C64-0433-924B-B386-F037417D844A}"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A6F4F5-5863-CC44-9898-DB52F78F36E3}">
      <dsp:nvSpPr>
        <dsp:cNvPr id="0" name=""/>
        <dsp:cNvSpPr/>
      </dsp:nvSpPr>
      <dsp:spPr>
        <a:xfrm>
          <a:off x="0" y="326588"/>
          <a:ext cx="2012156" cy="1207293"/>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Aparajita" panose="02020603050405020304" pitchFamily="18" charset="0"/>
              <a:cs typeface="Aparajita" panose="02020603050405020304" pitchFamily="18" charset="0"/>
            </a:rPr>
            <a:t>KPI values showing blank or incorrect percentages</a:t>
          </a:r>
          <a:endParaRPr lang="en-US" sz="2000" b="1" kern="1200" dirty="0">
            <a:latin typeface="Aparajita" panose="02020603050405020304" pitchFamily="18" charset="0"/>
            <a:cs typeface="Aparajita" panose="02020603050405020304" pitchFamily="18" charset="0"/>
          </a:endParaRPr>
        </a:p>
      </dsp:txBody>
      <dsp:txXfrm>
        <a:off x="0" y="326588"/>
        <a:ext cx="2012156" cy="1207293"/>
      </dsp:txXfrm>
    </dsp:sp>
    <dsp:sp modelId="{0B431BC6-22F8-084F-84CC-31F9786ADA6B}">
      <dsp:nvSpPr>
        <dsp:cNvPr id="0" name=""/>
        <dsp:cNvSpPr/>
      </dsp:nvSpPr>
      <dsp:spPr>
        <a:xfrm>
          <a:off x="2213371" y="326588"/>
          <a:ext cx="2012156" cy="1207293"/>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Aparajita" panose="02020603050405020304" pitchFamily="18" charset="0"/>
              <a:cs typeface="Aparajita" panose="02020603050405020304" pitchFamily="18" charset="0"/>
            </a:rPr>
            <a:t>Aggregation-level mismatch across tools</a:t>
          </a:r>
          <a:endParaRPr lang="en-US" sz="2000" b="1" kern="1200" dirty="0">
            <a:latin typeface="Aparajita" panose="02020603050405020304" pitchFamily="18" charset="0"/>
            <a:cs typeface="Aparajita" panose="02020603050405020304" pitchFamily="18" charset="0"/>
          </a:endParaRPr>
        </a:p>
      </dsp:txBody>
      <dsp:txXfrm>
        <a:off x="2213371" y="326588"/>
        <a:ext cx="2012156" cy="1207293"/>
      </dsp:txXfrm>
    </dsp:sp>
    <dsp:sp modelId="{CD4BD572-377A-0046-BC75-4BCBE8A73024}">
      <dsp:nvSpPr>
        <dsp:cNvPr id="0" name=""/>
        <dsp:cNvSpPr/>
      </dsp:nvSpPr>
      <dsp:spPr>
        <a:xfrm>
          <a:off x="4426743" y="326588"/>
          <a:ext cx="2012156" cy="1207293"/>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Aparajita" panose="02020603050405020304" pitchFamily="18" charset="0"/>
              <a:cs typeface="Aparajita" panose="02020603050405020304" pitchFamily="18" charset="0"/>
            </a:rPr>
            <a:t>Relationship confusion between tables</a:t>
          </a:r>
          <a:endParaRPr lang="en-US" sz="2000" b="1" kern="1200" dirty="0">
            <a:latin typeface="Aparajita" panose="02020603050405020304" pitchFamily="18" charset="0"/>
            <a:cs typeface="Aparajita" panose="02020603050405020304" pitchFamily="18" charset="0"/>
          </a:endParaRPr>
        </a:p>
      </dsp:txBody>
      <dsp:txXfrm>
        <a:off x="4426743" y="326588"/>
        <a:ext cx="2012156" cy="1207293"/>
      </dsp:txXfrm>
    </dsp:sp>
    <dsp:sp modelId="{DAE1501D-A289-324B-9DBF-8A3FF12B8B7F}">
      <dsp:nvSpPr>
        <dsp:cNvPr id="0" name=""/>
        <dsp:cNvSpPr/>
      </dsp:nvSpPr>
      <dsp:spPr>
        <a:xfrm>
          <a:off x="1106685" y="1735097"/>
          <a:ext cx="2012156" cy="1207293"/>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Aparajita" panose="02020603050405020304" pitchFamily="18" charset="0"/>
              <a:cs typeface="Aparajita" panose="02020603050405020304" pitchFamily="18" charset="0"/>
            </a:rPr>
            <a:t>Inconsistent results between Excel and Power BI</a:t>
          </a:r>
          <a:endParaRPr lang="en-US" sz="2000" b="1" kern="1200" dirty="0">
            <a:latin typeface="Aparajita" panose="02020603050405020304" pitchFamily="18" charset="0"/>
            <a:cs typeface="Aparajita" panose="02020603050405020304" pitchFamily="18" charset="0"/>
          </a:endParaRPr>
        </a:p>
      </dsp:txBody>
      <dsp:txXfrm>
        <a:off x="1106685" y="1735097"/>
        <a:ext cx="2012156" cy="1207293"/>
      </dsp:txXfrm>
    </dsp:sp>
    <dsp:sp modelId="{78935C64-0433-924B-B386-F037417D844A}">
      <dsp:nvSpPr>
        <dsp:cNvPr id="0" name=""/>
        <dsp:cNvSpPr/>
      </dsp:nvSpPr>
      <dsp:spPr>
        <a:xfrm>
          <a:off x="3320057" y="1735097"/>
          <a:ext cx="2012156" cy="1207293"/>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Aparajita" panose="02020603050405020304" pitchFamily="18" charset="0"/>
              <a:cs typeface="Aparajita" panose="02020603050405020304" pitchFamily="18" charset="0"/>
            </a:rPr>
            <a:t>Difficulty calculating risk-adjusted metrics like the Sharpe Ratio</a:t>
          </a:r>
          <a:endParaRPr lang="en-US" sz="2000" b="1" kern="1200" dirty="0">
            <a:latin typeface="Aparajita" panose="02020603050405020304" pitchFamily="18" charset="0"/>
            <a:cs typeface="Aparajita" panose="02020603050405020304" pitchFamily="18" charset="0"/>
          </a:endParaRPr>
        </a:p>
      </dsp:txBody>
      <dsp:txXfrm>
        <a:off x="3320057" y="1735097"/>
        <a:ext cx="2012156" cy="120729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761"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048762"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048588"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589"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048612" name="Google Shape;137;g4d0546521f5872ec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13" name="Google Shape;138;g4d0546521f5872ec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048620" name="Google Shape;151;g3a7f931802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21" name="Google Shape;152;g3a7f931802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048616" name="Google Shape;144;g3a7f931802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17" name="Google Shape;145;g3a7f9318023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048629" name="Google Shape;159;g3a7fbc44ae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30" name="Google Shape;160;g3a7fbc44ae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048634" name="Google Shape;171;g3a7fbc44ae7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35" name="Google Shape;172;g3a7fbc44ae7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048638" name="Google Shape;179;g3a7fbc44ae7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39" name="Google Shape;180;g3a7fbc44ae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048642" name="Google Shape;186;g3a7fbc44ae7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43" name="Google Shape;187;g3a7fbc44ae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048646" name="Google Shape;193;g3a7fbc44ae7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47" name="Google Shape;194;g3a7fbc44ae7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1048682" name="Google Shape;238;g3a7fbc44ae7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83" name="Google Shape;239;g3a7fbc44ae7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1048665" name="Google Shape;218;g3a80628aeb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66" name="Google Shape;219;g3a80628aeb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1048687" name="Google Shape;246;g3a7fbc44ae7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8688" name="Google Shape;247;g3a7fbc44ae7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48579"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11;p2"/>
          <p:cNvGrpSpPr/>
          <p:nvPr/>
        </p:nvGrpSpPr>
        <p:grpSpPr>
          <a:xfrm>
            <a:off x="0" y="490"/>
            <a:ext cx="5153705" cy="5134399"/>
            <a:chOff x="0" y="75"/>
            <a:chExt cx="5153705" cy="5152950"/>
          </a:xfrm>
        </p:grpSpPr>
        <p:sp>
          <p:nvSpPr>
            <p:cNvPr id="1048580"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81"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82"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83"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584"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048585"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048586"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36" name="Google Shape;20;p3"/>
          <p:cNvGrpSpPr/>
          <p:nvPr/>
        </p:nvGrpSpPr>
        <p:grpSpPr>
          <a:xfrm>
            <a:off x="4406400" y="0"/>
            <a:ext cx="4737600" cy="5143065"/>
            <a:chOff x="4406400" y="0"/>
            <a:chExt cx="4737600" cy="5143065"/>
          </a:xfrm>
        </p:grpSpPr>
        <p:sp>
          <p:nvSpPr>
            <p:cNvPr id="1048590"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1"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2"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3"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4"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5"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6"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7"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8"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99"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0"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1"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2"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3"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4"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5"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6"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07"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608"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a:endParaRPr/>
          </a:p>
        </p:txBody>
      </p:sp>
      <p:sp>
        <p:nvSpPr>
          <p:cNvPr id="1048609"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90" name="Google Shape;42;p4"/>
          <p:cNvGrpSpPr/>
          <p:nvPr/>
        </p:nvGrpSpPr>
        <p:grpSpPr>
          <a:xfrm>
            <a:off x="0" y="381001"/>
            <a:ext cx="1037850" cy="1016287"/>
            <a:chOff x="0" y="381001"/>
            <a:chExt cx="1037850" cy="1016287"/>
          </a:xfrm>
        </p:grpSpPr>
        <p:sp>
          <p:nvSpPr>
            <p:cNvPr id="1048720"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21"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722"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48723"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lvl1pPr>
            <a:lvl2pPr marL="914400" lvl="1" indent="-298450">
              <a:spcBef>
                <a:spcPts val="0"/>
              </a:spcBef>
              <a:spcAft>
                <a:spcPts val="0"/>
              </a:spcAft>
              <a:buSzPts val="1100"/>
              <a:buChar char="○"/>
            </a:lvl2pPr>
            <a:lvl3pPr marL="1371600" lvl="2" indent="-298450">
              <a:spcBef>
                <a:spcPts val="0"/>
              </a:spcBef>
              <a:spcAft>
                <a:spcPts val="0"/>
              </a:spcAft>
              <a:buSzPts val="1100"/>
              <a:buChar char="■"/>
            </a:lvl3pPr>
            <a:lvl4pPr marL="1828800" lvl="3" indent="-298450">
              <a:spcBef>
                <a:spcPts val="0"/>
              </a:spcBef>
              <a:spcAft>
                <a:spcPts val="0"/>
              </a:spcAft>
              <a:buSzPts val="1100"/>
              <a:buChar char="●"/>
            </a:lvl4pPr>
            <a:lvl5pPr marL="2286000" lvl="4" indent="-298450">
              <a:spcBef>
                <a:spcPts val="0"/>
              </a:spcBef>
              <a:spcAft>
                <a:spcPts val="0"/>
              </a:spcAft>
              <a:buSzPts val="1100"/>
              <a:buChar char="○"/>
            </a:lvl5pPr>
            <a:lvl6pPr marL="2743200" lvl="5" indent="-298450">
              <a:spcBef>
                <a:spcPts val="0"/>
              </a:spcBef>
              <a:spcAft>
                <a:spcPts val="0"/>
              </a:spcAft>
              <a:buSzPts val="1100"/>
              <a:buChar char="■"/>
            </a:lvl6pPr>
            <a:lvl7pPr marL="3200400" lvl="6" indent="-298450">
              <a:spcBef>
                <a:spcPts val="0"/>
              </a:spcBef>
              <a:spcAft>
                <a:spcPts val="0"/>
              </a:spcAft>
              <a:buSzPts val="1100"/>
              <a:buChar char="●"/>
            </a:lvl7pPr>
            <a:lvl8pPr marL="3657600" lvl="7" indent="-298450">
              <a:spcBef>
                <a:spcPts val="0"/>
              </a:spcBef>
              <a:spcAft>
                <a:spcPts val="0"/>
              </a:spcAft>
              <a:buSzPts val="1100"/>
              <a:buChar char="○"/>
            </a:lvl8pPr>
            <a:lvl9pPr marL="4114800" lvl="8" indent="-298450">
              <a:spcBef>
                <a:spcPts val="0"/>
              </a:spcBef>
              <a:spcAft>
                <a:spcPts val="0"/>
              </a:spcAft>
              <a:buSzPts val="1100"/>
              <a:buChar char="■"/>
            </a:lvl9pPr>
          </a:lstStyle>
          <a:p>
            <a:endParaRPr/>
          </a:p>
        </p:txBody>
      </p:sp>
      <p:sp>
        <p:nvSpPr>
          <p:cNvPr id="1048724"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92" name="Google Shape;49;p5"/>
          <p:cNvGrpSpPr/>
          <p:nvPr/>
        </p:nvGrpSpPr>
        <p:grpSpPr>
          <a:xfrm>
            <a:off x="0" y="381001"/>
            <a:ext cx="1037850" cy="1016287"/>
            <a:chOff x="0" y="381001"/>
            <a:chExt cx="1037850" cy="1016287"/>
          </a:xfrm>
        </p:grpSpPr>
        <p:sp>
          <p:nvSpPr>
            <p:cNvPr id="1048725"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26"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727"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48728"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lvl1pPr>
            <a:lvl2pPr marL="914400" lvl="1" indent="-298450">
              <a:spcBef>
                <a:spcPts val="0"/>
              </a:spcBef>
              <a:spcAft>
                <a:spcPts val="0"/>
              </a:spcAft>
              <a:buSzPts val="1100"/>
              <a:buChar char="○"/>
            </a:lvl2pPr>
            <a:lvl3pPr marL="1371600" lvl="2" indent="-298450">
              <a:spcBef>
                <a:spcPts val="0"/>
              </a:spcBef>
              <a:spcAft>
                <a:spcPts val="0"/>
              </a:spcAft>
              <a:buSzPts val="1100"/>
              <a:buChar char="■"/>
            </a:lvl3pPr>
            <a:lvl4pPr marL="1828800" lvl="3" indent="-298450">
              <a:spcBef>
                <a:spcPts val="0"/>
              </a:spcBef>
              <a:spcAft>
                <a:spcPts val="0"/>
              </a:spcAft>
              <a:buSzPts val="1100"/>
              <a:buChar char="●"/>
            </a:lvl4pPr>
            <a:lvl5pPr marL="2286000" lvl="4" indent="-298450">
              <a:spcBef>
                <a:spcPts val="0"/>
              </a:spcBef>
              <a:spcAft>
                <a:spcPts val="0"/>
              </a:spcAft>
              <a:buSzPts val="1100"/>
              <a:buChar char="○"/>
            </a:lvl5pPr>
            <a:lvl6pPr marL="2743200" lvl="5" indent="-298450">
              <a:spcBef>
                <a:spcPts val="0"/>
              </a:spcBef>
              <a:spcAft>
                <a:spcPts val="0"/>
              </a:spcAft>
              <a:buSzPts val="1100"/>
              <a:buChar char="■"/>
            </a:lvl6pPr>
            <a:lvl7pPr marL="3200400" lvl="6" indent="-298450">
              <a:spcBef>
                <a:spcPts val="0"/>
              </a:spcBef>
              <a:spcAft>
                <a:spcPts val="0"/>
              </a:spcAft>
              <a:buSzPts val="1100"/>
              <a:buChar char="●"/>
            </a:lvl7pPr>
            <a:lvl8pPr marL="3657600" lvl="7" indent="-298450">
              <a:spcBef>
                <a:spcPts val="0"/>
              </a:spcBef>
              <a:spcAft>
                <a:spcPts val="0"/>
              </a:spcAft>
              <a:buSzPts val="1100"/>
              <a:buChar char="○"/>
            </a:lvl8pPr>
            <a:lvl9pPr marL="4114800" lvl="8" indent="-298450">
              <a:spcBef>
                <a:spcPts val="0"/>
              </a:spcBef>
              <a:spcAft>
                <a:spcPts val="0"/>
              </a:spcAft>
              <a:buSzPts val="1100"/>
              <a:buChar char="■"/>
            </a:lvl9pPr>
          </a:lstStyle>
          <a:p>
            <a:endParaRPr/>
          </a:p>
        </p:txBody>
      </p:sp>
      <p:sp>
        <p:nvSpPr>
          <p:cNvPr id="1048729"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lvl1pPr>
            <a:lvl2pPr marL="914400" lvl="1" indent="-298450">
              <a:spcBef>
                <a:spcPts val="0"/>
              </a:spcBef>
              <a:spcAft>
                <a:spcPts val="0"/>
              </a:spcAft>
              <a:buSzPts val="1100"/>
              <a:buChar char="○"/>
            </a:lvl2pPr>
            <a:lvl3pPr marL="1371600" lvl="2" indent="-298450">
              <a:spcBef>
                <a:spcPts val="0"/>
              </a:spcBef>
              <a:spcAft>
                <a:spcPts val="0"/>
              </a:spcAft>
              <a:buSzPts val="1100"/>
              <a:buChar char="■"/>
            </a:lvl3pPr>
            <a:lvl4pPr marL="1828800" lvl="3" indent="-298450">
              <a:spcBef>
                <a:spcPts val="0"/>
              </a:spcBef>
              <a:spcAft>
                <a:spcPts val="0"/>
              </a:spcAft>
              <a:buSzPts val="1100"/>
              <a:buChar char="●"/>
            </a:lvl4pPr>
            <a:lvl5pPr marL="2286000" lvl="4" indent="-298450">
              <a:spcBef>
                <a:spcPts val="0"/>
              </a:spcBef>
              <a:spcAft>
                <a:spcPts val="0"/>
              </a:spcAft>
              <a:buSzPts val="1100"/>
              <a:buChar char="○"/>
            </a:lvl5pPr>
            <a:lvl6pPr marL="2743200" lvl="5" indent="-298450">
              <a:spcBef>
                <a:spcPts val="0"/>
              </a:spcBef>
              <a:spcAft>
                <a:spcPts val="0"/>
              </a:spcAft>
              <a:buSzPts val="1100"/>
              <a:buChar char="■"/>
            </a:lvl6pPr>
            <a:lvl7pPr marL="3200400" lvl="6" indent="-298450">
              <a:spcBef>
                <a:spcPts val="0"/>
              </a:spcBef>
              <a:spcAft>
                <a:spcPts val="0"/>
              </a:spcAft>
              <a:buSzPts val="1100"/>
              <a:buChar char="●"/>
            </a:lvl7pPr>
            <a:lvl8pPr marL="3657600" lvl="7" indent="-298450">
              <a:spcBef>
                <a:spcPts val="0"/>
              </a:spcBef>
              <a:spcAft>
                <a:spcPts val="0"/>
              </a:spcAft>
              <a:buSzPts val="1100"/>
              <a:buChar char="○"/>
            </a:lvl8pPr>
            <a:lvl9pPr marL="4114800" lvl="8" indent="-298450">
              <a:spcBef>
                <a:spcPts val="0"/>
              </a:spcBef>
              <a:spcAft>
                <a:spcPts val="0"/>
              </a:spcAft>
              <a:buSzPts val="1100"/>
              <a:buChar char="■"/>
            </a:lvl9pPr>
          </a:lstStyle>
          <a:p>
            <a:endParaRPr/>
          </a:p>
        </p:txBody>
      </p:sp>
      <p:sp>
        <p:nvSpPr>
          <p:cNvPr id="1048730"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94" name="Google Shape;57;p6"/>
          <p:cNvGrpSpPr/>
          <p:nvPr/>
        </p:nvGrpSpPr>
        <p:grpSpPr>
          <a:xfrm>
            <a:off x="0" y="381001"/>
            <a:ext cx="1037850" cy="1016287"/>
            <a:chOff x="0" y="381001"/>
            <a:chExt cx="1037850" cy="1016287"/>
          </a:xfrm>
        </p:grpSpPr>
        <p:sp>
          <p:nvSpPr>
            <p:cNvPr id="1048731"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32"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733"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48734"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83" name="Google Shape;63;p7"/>
          <p:cNvGrpSpPr/>
          <p:nvPr/>
        </p:nvGrpSpPr>
        <p:grpSpPr>
          <a:xfrm>
            <a:off x="0" y="381001"/>
            <a:ext cx="1037850" cy="1016287"/>
            <a:chOff x="0" y="381001"/>
            <a:chExt cx="1037850" cy="1016287"/>
          </a:xfrm>
        </p:grpSpPr>
        <p:sp>
          <p:nvSpPr>
            <p:cNvPr id="1048689"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90"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691"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48692"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lvl1pPr>
            <a:lvl2pPr marL="914400" lvl="1" indent="-298450">
              <a:spcBef>
                <a:spcPts val="0"/>
              </a:spcBef>
              <a:spcAft>
                <a:spcPts val="0"/>
              </a:spcAft>
              <a:buSzPts val="1100"/>
              <a:buChar char="○"/>
            </a:lvl2pPr>
            <a:lvl3pPr marL="1371600" lvl="2" indent="-298450">
              <a:spcBef>
                <a:spcPts val="0"/>
              </a:spcBef>
              <a:spcAft>
                <a:spcPts val="0"/>
              </a:spcAft>
              <a:buSzPts val="1100"/>
              <a:buChar char="■"/>
            </a:lvl3pPr>
            <a:lvl4pPr marL="1828800" lvl="3" indent="-298450">
              <a:spcBef>
                <a:spcPts val="0"/>
              </a:spcBef>
              <a:spcAft>
                <a:spcPts val="0"/>
              </a:spcAft>
              <a:buSzPts val="1100"/>
              <a:buChar char="●"/>
            </a:lvl4pPr>
            <a:lvl5pPr marL="2286000" lvl="4" indent="-298450">
              <a:spcBef>
                <a:spcPts val="0"/>
              </a:spcBef>
              <a:spcAft>
                <a:spcPts val="0"/>
              </a:spcAft>
              <a:buSzPts val="1100"/>
              <a:buChar char="○"/>
            </a:lvl5pPr>
            <a:lvl6pPr marL="2743200" lvl="5" indent="-298450">
              <a:spcBef>
                <a:spcPts val="0"/>
              </a:spcBef>
              <a:spcAft>
                <a:spcPts val="0"/>
              </a:spcAft>
              <a:buSzPts val="1100"/>
              <a:buChar char="■"/>
            </a:lvl6pPr>
            <a:lvl7pPr marL="3200400" lvl="6" indent="-298450">
              <a:spcBef>
                <a:spcPts val="0"/>
              </a:spcBef>
              <a:spcAft>
                <a:spcPts val="0"/>
              </a:spcAft>
              <a:buSzPts val="1100"/>
              <a:buChar char="●"/>
            </a:lvl7pPr>
            <a:lvl8pPr marL="3657600" lvl="7" indent="-298450">
              <a:spcBef>
                <a:spcPts val="0"/>
              </a:spcBef>
              <a:spcAft>
                <a:spcPts val="0"/>
              </a:spcAft>
              <a:buSzPts val="1100"/>
              <a:buChar char="○"/>
            </a:lvl8pPr>
            <a:lvl9pPr marL="4114800" lvl="8" indent="-298450">
              <a:spcBef>
                <a:spcPts val="0"/>
              </a:spcBef>
              <a:spcAft>
                <a:spcPts val="0"/>
              </a:spcAft>
              <a:buSzPts val="1100"/>
              <a:buChar char="■"/>
            </a:lvl9pPr>
          </a:lstStyle>
          <a:p>
            <a:endParaRPr/>
          </a:p>
        </p:txBody>
      </p:sp>
      <p:sp>
        <p:nvSpPr>
          <p:cNvPr id="1048693"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96" name="Google Shape;70;p8"/>
          <p:cNvGrpSpPr/>
          <p:nvPr/>
        </p:nvGrpSpPr>
        <p:grpSpPr>
          <a:xfrm>
            <a:off x="4406400" y="0"/>
            <a:ext cx="4737600" cy="5143500"/>
            <a:chOff x="4406400" y="0"/>
            <a:chExt cx="4737600" cy="5143500"/>
          </a:xfrm>
        </p:grpSpPr>
        <p:sp>
          <p:nvSpPr>
            <p:cNvPr id="1048735"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36"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37"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38"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39"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0"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1"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2"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3"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4"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5"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6"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7"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8"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49"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50"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51"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52"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753"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a:endParaRPr/>
          </a:p>
        </p:txBody>
      </p:sp>
      <p:sp>
        <p:nvSpPr>
          <p:cNvPr id="1048754"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8" name="Google Shape;92;p9"/>
          <p:cNvGrpSpPr/>
          <p:nvPr/>
        </p:nvGrpSpPr>
        <p:grpSpPr>
          <a:xfrm>
            <a:off x="0" y="381001"/>
            <a:ext cx="1037850" cy="1016287"/>
            <a:chOff x="0" y="381001"/>
            <a:chExt cx="1037850" cy="1016287"/>
          </a:xfrm>
        </p:grpSpPr>
        <p:sp>
          <p:nvSpPr>
            <p:cNvPr id="1048755"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56"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757"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48758"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048759"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lvl1pPr>
            <a:lvl2pPr marL="914400" lvl="1" indent="-298450">
              <a:spcBef>
                <a:spcPts val="0"/>
              </a:spcBef>
              <a:spcAft>
                <a:spcPts val="0"/>
              </a:spcAft>
              <a:buSzPts val="1100"/>
              <a:buChar char="○"/>
            </a:lvl2pPr>
            <a:lvl3pPr marL="1371600" lvl="2" indent="-298450">
              <a:spcBef>
                <a:spcPts val="0"/>
              </a:spcBef>
              <a:spcAft>
                <a:spcPts val="0"/>
              </a:spcAft>
              <a:buSzPts val="1100"/>
              <a:buChar char="■"/>
            </a:lvl3pPr>
            <a:lvl4pPr marL="1828800" lvl="3" indent="-298450">
              <a:spcBef>
                <a:spcPts val="0"/>
              </a:spcBef>
              <a:spcAft>
                <a:spcPts val="0"/>
              </a:spcAft>
              <a:buSzPts val="1100"/>
              <a:buChar char="●"/>
            </a:lvl4pPr>
            <a:lvl5pPr marL="2286000" lvl="4" indent="-298450">
              <a:spcBef>
                <a:spcPts val="0"/>
              </a:spcBef>
              <a:spcAft>
                <a:spcPts val="0"/>
              </a:spcAft>
              <a:buSzPts val="1100"/>
              <a:buChar char="○"/>
            </a:lvl5pPr>
            <a:lvl6pPr marL="2743200" lvl="5" indent="-298450">
              <a:spcBef>
                <a:spcPts val="0"/>
              </a:spcBef>
              <a:spcAft>
                <a:spcPts val="0"/>
              </a:spcAft>
              <a:buSzPts val="1100"/>
              <a:buChar char="■"/>
            </a:lvl6pPr>
            <a:lvl7pPr marL="3200400" lvl="6" indent="-298450">
              <a:spcBef>
                <a:spcPts val="0"/>
              </a:spcBef>
              <a:spcAft>
                <a:spcPts val="0"/>
              </a:spcAft>
              <a:buSzPts val="1100"/>
              <a:buChar char="●"/>
            </a:lvl7pPr>
            <a:lvl8pPr marL="3657600" lvl="7" indent="-298450">
              <a:spcBef>
                <a:spcPts val="0"/>
              </a:spcBef>
              <a:spcAft>
                <a:spcPts val="0"/>
              </a:spcAft>
              <a:buSzPts val="1100"/>
              <a:buChar char="○"/>
            </a:lvl8pPr>
            <a:lvl9pPr marL="4114800" lvl="8" indent="-298450">
              <a:spcBef>
                <a:spcPts val="0"/>
              </a:spcBef>
              <a:spcAft>
                <a:spcPts val="0"/>
              </a:spcAft>
              <a:buSzPts val="1100"/>
              <a:buChar char="■"/>
            </a:lvl9pPr>
          </a:lstStyle>
          <a:p>
            <a:endParaRPr/>
          </a:p>
        </p:txBody>
      </p:sp>
      <p:sp>
        <p:nvSpPr>
          <p:cNvPr id="1048760"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86" name="Google Shape;100;p10"/>
          <p:cNvGrpSpPr/>
          <p:nvPr/>
        </p:nvGrpSpPr>
        <p:grpSpPr>
          <a:xfrm>
            <a:off x="0" y="4128572"/>
            <a:ext cx="698925" cy="684657"/>
            <a:chOff x="0" y="3785672"/>
            <a:chExt cx="698925" cy="684657"/>
          </a:xfrm>
        </p:grpSpPr>
        <p:sp>
          <p:nvSpPr>
            <p:cNvPr id="1048695"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96"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697"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lvl1pPr>
          </a:lstStyle>
          <a:p>
            <a:endParaRPr/>
          </a:p>
        </p:txBody>
      </p:sp>
      <p:sp>
        <p:nvSpPr>
          <p:cNvPr id="1048698"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88" name="Google Shape;106;p11"/>
          <p:cNvGrpSpPr/>
          <p:nvPr/>
        </p:nvGrpSpPr>
        <p:grpSpPr>
          <a:xfrm>
            <a:off x="4406400" y="0"/>
            <a:ext cx="4737600" cy="5143065"/>
            <a:chOff x="4406400" y="0"/>
            <a:chExt cx="4737600" cy="5143065"/>
          </a:xfrm>
        </p:grpSpPr>
        <p:sp>
          <p:nvSpPr>
            <p:cNvPr id="1048699"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0"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1"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2"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3"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4"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5"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6"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7"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8"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09"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10"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11"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12"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13"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14"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15"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16"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717"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048718"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lvl1pPr>
            <a:lvl2pPr marL="914400" lvl="1" indent="-298450">
              <a:spcBef>
                <a:spcPts val="0"/>
              </a:spcBef>
              <a:spcAft>
                <a:spcPts val="0"/>
              </a:spcAft>
              <a:buSzPts val="1100"/>
              <a:buChar char="○"/>
            </a:lvl2pPr>
            <a:lvl3pPr marL="1371600" lvl="2" indent="-298450">
              <a:spcBef>
                <a:spcPts val="0"/>
              </a:spcBef>
              <a:spcAft>
                <a:spcPts val="0"/>
              </a:spcAft>
              <a:buSzPts val="1100"/>
              <a:buChar char="■"/>
            </a:lvl3pPr>
            <a:lvl4pPr marL="1828800" lvl="3" indent="-298450">
              <a:spcBef>
                <a:spcPts val="0"/>
              </a:spcBef>
              <a:spcAft>
                <a:spcPts val="0"/>
              </a:spcAft>
              <a:buSzPts val="1100"/>
              <a:buChar char="●"/>
            </a:lvl4pPr>
            <a:lvl5pPr marL="2286000" lvl="4" indent="-298450">
              <a:spcBef>
                <a:spcPts val="0"/>
              </a:spcBef>
              <a:spcAft>
                <a:spcPts val="0"/>
              </a:spcAft>
              <a:buSzPts val="1100"/>
              <a:buChar char="○"/>
            </a:lvl5pPr>
            <a:lvl6pPr marL="2743200" lvl="5" indent="-298450">
              <a:spcBef>
                <a:spcPts val="0"/>
              </a:spcBef>
              <a:spcAft>
                <a:spcPts val="0"/>
              </a:spcAft>
              <a:buSzPts val="1100"/>
              <a:buChar char="■"/>
            </a:lvl6pPr>
            <a:lvl7pPr marL="3200400" lvl="6" indent="-298450">
              <a:spcBef>
                <a:spcPts val="0"/>
              </a:spcBef>
              <a:spcAft>
                <a:spcPts val="0"/>
              </a:spcAft>
              <a:buSzPts val="1100"/>
              <a:buChar char="●"/>
            </a:lvl7pPr>
            <a:lvl8pPr marL="3657600" lvl="7" indent="-298450">
              <a:spcBef>
                <a:spcPts val="0"/>
              </a:spcBef>
              <a:spcAft>
                <a:spcPts val="0"/>
              </a:spcAft>
              <a:buSzPts val="1100"/>
              <a:buChar char="○"/>
            </a:lvl8pPr>
            <a:lvl9pPr marL="4114800" lvl="8" indent="-298450">
              <a:spcBef>
                <a:spcPts val="0"/>
              </a:spcBef>
              <a:spcAft>
                <a:spcPts val="0"/>
              </a:spcAft>
              <a:buSzPts val="1100"/>
              <a:buChar char="■"/>
            </a:lvl9pPr>
          </a:lstStyle>
          <a:p>
            <a:endParaRPr/>
          </a:p>
        </p:txBody>
      </p:sp>
      <p:sp>
        <p:nvSpPr>
          <p:cNvPr id="1048719"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048694"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marL="0" lvl="0" indent="0" algn="r" rtl="0">
              <a:spcBef>
                <a:spcPts val="0"/>
              </a:spcBef>
              <a:spcAft>
                <a:spcPts val="0"/>
              </a:spcAft>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104857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104857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104857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lnSpcReduction="10000"/>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lang="e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g"/><Relationship Id="rId7" Type="http://schemas.openxmlformats.org/officeDocument/2006/relationships/diagramColors" Target="../diagrams/colors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3"/>
        <p:cNvGrpSpPr/>
        <p:nvPr/>
      </p:nvGrpSpPr>
      <p:grpSpPr>
        <a:xfrm>
          <a:off x="0" y="0"/>
          <a:ext cx="0" cy="0"/>
          <a:chOff x="0" y="0"/>
          <a:chExt cx="0" cy="0"/>
        </a:xfrm>
      </p:grpSpPr>
      <p:sp>
        <p:nvSpPr>
          <p:cNvPr id="1048587" name="Google Shape;134;p13"/>
          <p:cNvSpPr txBox="1">
            <a:spLocks noGrp="1"/>
          </p:cNvSpPr>
          <p:nvPr>
            <p:ph type="ctrTitle"/>
          </p:nvPr>
        </p:nvSpPr>
        <p:spPr>
          <a:xfrm>
            <a:off x="-6" y="2852125"/>
            <a:ext cx="5017500" cy="1578900"/>
          </a:xfrm>
          <a:prstGeom prst="rect">
            <a:avLst/>
          </a:prstGeom>
          <a:noFill/>
        </p:spPr>
        <p:txBody>
          <a:bodyPr spcFirstLastPara="1" wrap="square" lIns="91425" tIns="91425" rIns="91425" bIns="91425" anchor="t" anchorCtr="0">
            <a:noAutofit/>
          </a:bodyPr>
          <a:lstStyle/>
          <a:p>
            <a:pPr marL="0" lvl="0" indent="0" algn="ctr" rtl="0">
              <a:spcBef>
                <a:spcPts val="0"/>
              </a:spcBef>
              <a:spcAft>
                <a:spcPts val="0"/>
              </a:spcAft>
              <a:buNone/>
            </a:pPr>
            <a:r>
              <a:rPr lang="en" sz="4800" dirty="0">
                <a:solidFill>
                  <a:schemeClr val="bg1"/>
                </a:solidFill>
                <a:latin typeface="Impact"/>
                <a:ea typeface="Impact"/>
                <a:cs typeface="Impact"/>
                <a:sym typeface="Impact"/>
              </a:rPr>
              <a:t>Stock Market Analysis</a:t>
            </a:r>
            <a:endParaRPr sz="4800" dirty="0">
              <a:solidFill>
                <a:schemeClr val="bg1"/>
              </a:solidFill>
              <a:latin typeface="Impact"/>
              <a:ea typeface="Impact"/>
              <a:cs typeface="Impact"/>
              <a:sym typeface="Impact"/>
            </a:endParaRPr>
          </a:p>
        </p:txBody>
      </p:sp>
      <p:pic>
        <p:nvPicPr>
          <p:cNvPr id="5" name="Picture 4">
            <a:extLst>
              <a:ext uri="{FF2B5EF4-FFF2-40B4-BE49-F238E27FC236}">
                <a16:creationId xmlns:a16="http://schemas.microsoft.com/office/drawing/2014/main" id="{51AAC258-AD86-C6B9-C8EF-DA1BF7BFC1B8}"/>
              </a:ext>
            </a:extLst>
          </p:cNvPr>
          <p:cNvPicPr>
            <a:picLocks noChangeAspect="1"/>
          </p:cNvPicPr>
          <p:nvPr/>
        </p:nvPicPr>
        <p:blipFill>
          <a:blip r:embed="rId3"/>
          <a:stretch>
            <a:fillRect/>
          </a:stretch>
        </p:blipFill>
        <p:spPr>
          <a:xfrm>
            <a:off x="4457700" y="0"/>
            <a:ext cx="4686300" cy="5143500"/>
          </a:xfrm>
          <a:prstGeom prst="rect">
            <a:avLst/>
          </a:prstGeom>
          <a:pattFill prst="pct5">
            <a:fgClr>
              <a:schemeClr val="dk1"/>
            </a:fgClr>
            <a:bgClr>
              <a:schemeClr val="bg1"/>
            </a:bgClr>
          </a:patt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048610" name="Google Shape;140;p14"/>
          <p:cNvSpPr txBox="1">
            <a:spLocks noGrp="1"/>
          </p:cNvSpPr>
          <p:nvPr>
            <p:ph type="title"/>
          </p:nvPr>
        </p:nvSpPr>
        <p:spPr>
          <a:xfrm>
            <a:off x="401600" y="1449100"/>
            <a:ext cx="5131800" cy="3182400"/>
          </a:xfrm>
          <a:prstGeom prst="rect">
            <a:avLst/>
          </a:prstGeom>
        </p:spPr>
        <p:txBody>
          <a:bodyPr spcFirstLastPara="1" wrap="square" lIns="91425" tIns="91425" rIns="91425" bIns="91425" anchor="ctr" anchorCtr="0">
            <a:normAutofit fontScale="90000"/>
          </a:bodyPr>
          <a:lstStyle/>
          <a:p>
            <a:pPr marL="457200" lvl="0" indent="-320674" algn="just" rtl="0">
              <a:lnSpc>
                <a:spcPct val="150000"/>
              </a:lnSpc>
              <a:spcBef>
                <a:spcPts val="1200"/>
              </a:spcBef>
              <a:spcAft>
                <a:spcPts val="0"/>
              </a:spcAft>
              <a:buSzPct val="100000"/>
              <a:buFont typeface="Arial"/>
              <a:buChar char="❖"/>
            </a:pPr>
            <a:r>
              <a:rPr lang="en" sz="1611" b="1" dirty="0">
                <a:latin typeface="Arial"/>
                <a:ea typeface="Arial"/>
                <a:cs typeface="Arial"/>
                <a:sym typeface="Arial"/>
              </a:rPr>
              <a:t>This project is based on a Stock Market dataset containing details of companies, exchanges, prices, volumes, dividends, categories, traders, and months. </a:t>
            </a:r>
            <a:endParaRPr sz="1611" b="1" dirty="0">
              <a:latin typeface="Arial"/>
              <a:ea typeface="Arial"/>
              <a:cs typeface="Arial"/>
              <a:sym typeface="Arial"/>
            </a:endParaRPr>
          </a:p>
          <a:p>
            <a:pPr marL="457200" lvl="0" indent="-320674" algn="just" rtl="0">
              <a:lnSpc>
                <a:spcPct val="150000"/>
              </a:lnSpc>
              <a:spcBef>
                <a:spcPts val="0"/>
              </a:spcBef>
              <a:spcAft>
                <a:spcPts val="0"/>
              </a:spcAft>
              <a:buSzPct val="100000"/>
              <a:buFont typeface="Arial"/>
              <a:buChar char="❖"/>
            </a:pPr>
            <a:r>
              <a:rPr lang="en" sz="1611" b="1" dirty="0">
                <a:latin typeface="Arial"/>
                <a:ea typeface="Arial"/>
                <a:cs typeface="Arial"/>
                <a:sym typeface="Arial"/>
              </a:rPr>
              <a:t>The aim is to understand market capitalization, volatility, performance, sector behavior, and trading patterns using multiple dashboard tools.</a:t>
            </a:r>
            <a:endParaRPr sz="1611" b="1" dirty="0">
              <a:latin typeface="Arial"/>
              <a:ea typeface="Arial"/>
              <a:cs typeface="Arial"/>
              <a:sym typeface="Arial"/>
            </a:endParaRPr>
          </a:p>
          <a:p>
            <a:pPr marL="457200" lvl="0" indent="-302260" algn="just" rtl="0">
              <a:lnSpc>
                <a:spcPct val="150000"/>
              </a:lnSpc>
              <a:spcBef>
                <a:spcPts val="0"/>
              </a:spcBef>
              <a:spcAft>
                <a:spcPts val="0"/>
              </a:spcAft>
              <a:buSzPct val="80000"/>
              <a:buFont typeface="Arial"/>
              <a:buChar char="❖"/>
            </a:pPr>
            <a:r>
              <a:rPr lang="en" sz="1611" b="1" dirty="0">
                <a:latin typeface="Arial"/>
                <a:ea typeface="Arial"/>
                <a:cs typeface="Arial"/>
                <a:sym typeface="Arial"/>
              </a:rPr>
              <a:t>Data spans multiple companies listed under NASDAQ &amp; NSE, including tech, pharma, banking, and consumer sectors</a:t>
            </a:r>
            <a:r>
              <a:rPr lang="en" sz="1288" b="1" dirty="0">
                <a:latin typeface="Arial"/>
                <a:ea typeface="Arial"/>
                <a:cs typeface="Arial"/>
                <a:sym typeface="Arial"/>
              </a:rPr>
              <a:t>.</a:t>
            </a:r>
            <a:endParaRPr sz="1288" b="1" dirty="0">
              <a:latin typeface="Arial"/>
              <a:ea typeface="Arial"/>
              <a:cs typeface="Arial"/>
              <a:sym typeface="Arial"/>
            </a:endParaRPr>
          </a:p>
          <a:p>
            <a:pPr marL="0" lvl="0" indent="0" algn="l" rtl="0">
              <a:spcBef>
                <a:spcPts val="1200"/>
              </a:spcBef>
              <a:spcAft>
                <a:spcPts val="0"/>
              </a:spcAft>
              <a:buNone/>
            </a:pPr>
            <a:endParaRPr sz="1200" dirty="0"/>
          </a:p>
        </p:txBody>
      </p:sp>
      <p:sp>
        <p:nvSpPr>
          <p:cNvPr id="1048611" name="Google Shape;141;p14"/>
          <p:cNvSpPr/>
          <p:nvPr/>
        </p:nvSpPr>
        <p:spPr>
          <a:xfrm>
            <a:off x="401600" y="245574"/>
            <a:ext cx="5812800" cy="1057445"/>
          </a:xfrm>
          <a:prstGeom prst="horizontalScroll">
            <a:avLst>
              <a:gd name="adj" fmla="val 25000"/>
            </a:avLst>
          </a:prstGeom>
          <a:solidFill>
            <a:schemeClr val="accent1">
              <a:lumMod val="7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dirty="0">
                <a:solidFill>
                  <a:schemeClr val="bg1"/>
                </a:solidFill>
                <a:latin typeface="Trebuchet MS"/>
                <a:ea typeface="Trebuchet MS"/>
                <a:cs typeface="Trebuchet MS"/>
                <a:sym typeface="Trebuchet MS"/>
              </a:rPr>
              <a:t>INTRODUCTION</a:t>
            </a:r>
            <a:endParaRPr sz="2500" b="1" dirty="0">
              <a:solidFill>
                <a:schemeClr val="bg1"/>
              </a:solidFill>
              <a:latin typeface="Trebuchet MS"/>
              <a:ea typeface="Trebuchet MS"/>
              <a:cs typeface="Trebuchet MS"/>
              <a:sym typeface="Trebuchet MS"/>
            </a:endParaRPr>
          </a:p>
        </p:txBody>
      </p:sp>
      <p:pic>
        <p:nvPicPr>
          <p:cNvPr id="7" name="Picture 6">
            <a:extLst>
              <a:ext uri="{FF2B5EF4-FFF2-40B4-BE49-F238E27FC236}">
                <a16:creationId xmlns:a16="http://schemas.microsoft.com/office/drawing/2014/main" id="{CE289B12-2C7D-74C3-49C1-5434880CFA0E}"/>
              </a:ext>
            </a:extLst>
          </p:cNvPr>
          <p:cNvPicPr>
            <a:picLocks noChangeAspect="1"/>
          </p:cNvPicPr>
          <p:nvPr/>
        </p:nvPicPr>
        <p:blipFill>
          <a:blip r:embed="rId3"/>
          <a:srcRect l="10961" t="14222" r="9231" b="12776"/>
          <a:stretch>
            <a:fillRect/>
          </a:stretch>
        </p:blipFill>
        <p:spPr>
          <a:xfrm>
            <a:off x="7002780" y="2326194"/>
            <a:ext cx="2004465" cy="201720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048618" name="Google Shape;154;p16"/>
          <p:cNvSpPr txBox="1">
            <a:spLocks noGrp="1"/>
          </p:cNvSpPr>
          <p:nvPr>
            <p:ph type="title"/>
          </p:nvPr>
        </p:nvSpPr>
        <p:spPr>
          <a:xfrm>
            <a:off x="2172799" y="1237900"/>
            <a:ext cx="4454503" cy="3417990"/>
          </a:xfrm>
          <a:prstGeom prst="rect">
            <a:avLst/>
          </a:prstGeom>
          <a:solidFill>
            <a:schemeClr val="lt1"/>
          </a:solidFill>
        </p:spPr>
        <p:txBody>
          <a:bodyPr spcFirstLastPara="1" wrap="square" lIns="91425" tIns="91425" rIns="91425" bIns="91425" anchor="t" anchorCtr="0">
            <a:normAutofit/>
          </a:bodyPr>
          <a:lstStyle/>
          <a:p>
            <a:pPr marL="0" lvl="0" indent="0" algn="l" rtl="0">
              <a:lnSpc>
                <a:spcPct val="150000"/>
              </a:lnSpc>
              <a:spcBef>
                <a:spcPts val="1200"/>
              </a:spcBef>
              <a:spcAft>
                <a:spcPts val="0"/>
              </a:spcAft>
              <a:buNone/>
            </a:pPr>
            <a:r>
              <a:rPr lang="en" sz="1622" b="1" u="sng" dirty="0">
                <a:solidFill>
                  <a:srgbClr val="000000"/>
                </a:solidFill>
                <a:latin typeface="Tw Cen MT" panose="020B0602020104020603" pitchFamily="34" charset="77"/>
                <a:ea typeface="Arial"/>
                <a:cs typeface="Arial"/>
                <a:sym typeface="Arial"/>
              </a:rPr>
              <a:t>Excel</a:t>
            </a:r>
            <a:r>
              <a:rPr lang="en" sz="1622" b="1" dirty="0">
                <a:solidFill>
                  <a:srgbClr val="000000"/>
                </a:solidFill>
                <a:latin typeface="Tw Cen MT" panose="020B0602020104020603" pitchFamily="34" charset="77"/>
                <a:ea typeface="Arial"/>
                <a:cs typeface="Arial"/>
                <a:sym typeface="Arial"/>
              </a:rPr>
              <a:t>: For static dashboards, price–volume analysis, pivot charts</a:t>
            </a:r>
            <a:endParaRPr sz="1622" b="1" dirty="0">
              <a:solidFill>
                <a:srgbClr val="000000"/>
              </a:solidFill>
              <a:latin typeface="Tw Cen MT" panose="020B0602020104020603" pitchFamily="34" charset="77"/>
              <a:ea typeface="Arial"/>
              <a:cs typeface="Arial"/>
              <a:sym typeface="Arial"/>
            </a:endParaRPr>
          </a:p>
          <a:p>
            <a:pPr marL="0" lvl="0" indent="0" algn="l" rtl="0">
              <a:lnSpc>
                <a:spcPct val="150000"/>
              </a:lnSpc>
              <a:spcBef>
                <a:spcPts val="1200"/>
              </a:spcBef>
              <a:spcAft>
                <a:spcPts val="0"/>
              </a:spcAft>
              <a:buNone/>
            </a:pPr>
            <a:r>
              <a:rPr lang="en" sz="1622" b="1" u="sng" dirty="0">
                <a:solidFill>
                  <a:srgbClr val="000000"/>
                </a:solidFill>
                <a:latin typeface="Tw Cen MT" panose="020B0602020104020603" pitchFamily="34" charset="77"/>
                <a:ea typeface="Arial"/>
                <a:cs typeface="Arial"/>
                <a:sym typeface="Arial"/>
              </a:rPr>
              <a:t>Power BI</a:t>
            </a:r>
            <a:r>
              <a:rPr lang="en" sz="1622" b="1" dirty="0">
                <a:solidFill>
                  <a:srgbClr val="000000"/>
                </a:solidFill>
                <a:latin typeface="Tw Cen MT" panose="020B0602020104020603" pitchFamily="34" charset="77"/>
                <a:ea typeface="Arial"/>
                <a:cs typeface="Arial"/>
                <a:sym typeface="Arial"/>
              </a:rPr>
              <a:t>: For dynamic dashboards, filters, interactive comparisons</a:t>
            </a:r>
            <a:endParaRPr sz="1622" b="1" dirty="0">
              <a:solidFill>
                <a:srgbClr val="000000"/>
              </a:solidFill>
              <a:latin typeface="Tw Cen MT" panose="020B0602020104020603" pitchFamily="34" charset="77"/>
              <a:ea typeface="Arial"/>
              <a:cs typeface="Arial"/>
              <a:sym typeface="Arial"/>
            </a:endParaRPr>
          </a:p>
          <a:p>
            <a:pPr marL="0" lvl="0" indent="0" algn="l" rtl="0">
              <a:lnSpc>
                <a:spcPct val="150000"/>
              </a:lnSpc>
              <a:spcBef>
                <a:spcPts val="1200"/>
              </a:spcBef>
              <a:spcAft>
                <a:spcPts val="0"/>
              </a:spcAft>
              <a:buNone/>
            </a:pPr>
            <a:r>
              <a:rPr lang="en" sz="1622" b="1" u="sng" dirty="0">
                <a:solidFill>
                  <a:srgbClr val="000000"/>
                </a:solidFill>
                <a:latin typeface="Tw Cen MT" panose="020B0602020104020603" pitchFamily="34" charset="77"/>
                <a:ea typeface="Arial"/>
                <a:cs typeface="Arial"/>
                <a:sym typeface="Arial"/>
              </a:rPr>
              <a:t>Tableau</a:t>
            </a:r>
            <a:r>
              <a:rPr lang="en" sz="1622" b="1" dirty="0">
                <a:solidFill>
                  <a:srgbClr val="000000"/>
                </a:solidFill>
                <a:latin typeface="Tw Cen MT" panose="020B0602020104020603" pitchFamily="34" charset="77"/>
                <a:ea typeface="Arial"/>
                <a:cs typeface="Arial"/>
                <a:sym typeface="Arial"/>
              </a:rPr>
              <a:t>: Visual storytelling, trend analysis, sector performance</a:t>
            </a:r>
            <a:endParaRPr sz="1622" b="1" dirty="0">
              <a:solidFill>
                <a:srgbClr val="000000"/>
              </a:solidFill>
              <a:latin typeface="Tw Cen MT" panose="020B0602020104020603" pitchFamily="34" charset="77"/>
              <a:ea typeface="Arial"/>
              <a:cs typeface="Arial"/>
              <a:sym typeface="Arial"/>
            </a:endParaRPr>
          </a:p>
          <a:p>
            <a:pPr marL="0" lvl="0" indent="0" algn="l" rtl="0">
              <a:lnSpc>
                <a:spcPct val="150000"/>
              </a:lnSpc>
              <a:spcBef>
                <a:spcPts val="1200"/>
              </a:spcBef>
              <a:spcAft>
                <a:spcPts val="0"/>
              </a:spcAft>
              <a:buNone/>
            </a:pPr>
            <a:r>
              <a:rPr lang="en" sz="1400" b="1" dirty="0">
                <a:solidFill>
                  <a:srgbClr val="000000"/>
                </a:solidFill>
                <a:latin typeface="Tw Cen MT" panose="020B0602020104020603" pitchFamily="34" charset="77"/>
                <a:ea typeface="Arial"/>
                <a:cs typeface="Arial"/>
                <a:sym typeface="Arial"/>
              </a:rPr>
              <a:t> </a:t>
            </a:r>
            <a:r>
              <a:rPr lang="en" sz="1622" b="1" u="sng" dirty="0">
                <a:solidFill>
                  <a:srgbClr val="000000"/>
                </a:solidFill>
                <a:latin typeface="Tw Cen MT" panose="020B0602020104020603" pitchFamily="34" charset="77"/>
                <a:ea typeface="Arial"/>
                <a:cs typeface="Arial"/>
                <a:sym typeface="Arial"/>
              </a:rPr>
              <a:t>SQL</a:t>
            </a:r>
            <a:r>
              <a:rPr lang="en" sz="1622" b="1" dirty="0">
                <a:solidFill>
                  <a:srgbClr val="000000"/>
                </a:solidFill>
                <a:latin typeface="Tw Cen MT" panose="020B0602020104020603" pitchFamily="34" charset="77"/>
                <a:ea typeface="Arial"/>
                <a:cs typeface="Arial"/>
                <a:sym typeface="Arial"/>
              </a:rPr>
              <a:t>: Used for joins, price calculations KPIs</a:t>
            </a:r>
            <a:endParaRPr sz="1400" b="1" dirty="0">
              <a:solidFill>
                <a:srgbClr val="000000"/>
              </a:solidFill>
              <a:latin typeface="Tw Cen MT" panose="020B0602020104020603" pitchFamily="34" charset="77"/>
              <a:ea typeface="Arial"/>
              <a:cs typeface="Arial"/>
              <a:sym typeface="Arial"/>
            </a:endParaRPr>
          </a:p>
          <a:p>
            <a:pPr marL="0" lvl="0" indent="0" algn="l" rtl="0">
              <a:spcBef>
                <a:spcPts val="1200"/>
              </a:spcBef>
              <a:spcAft>
                <a:spcPts val="0"/>
              </a:spcAft>
              <a:buNone/>
            </a:pPr>
            <a:endParaRPr sz="1400" dirty="0"/>
          </a:p>
        </p:txBody>
      </p:sp>
      <p:sp>
        <p:nvSpPr>
          <p:cNvPr id="1048619" name="Google Shape;155;p16"/>
          <p:cNvSpPr/>
          <p:nvPr/>
        </p:nvSpPr>
        <p:spPr>
          <a:xfrm>
            <a:off x="401600" y="321775"/>
            <a:ext cx="6695486" cy="681000"/>
          </a:xfrm>
          <a:prstGeom prst="horizontalScroll">
            <a:avLst>
              <a:gd name="adj" fmla="val 12500"/>
            </a:avLst>
          </a:prstGeom>
          <a:solidFill>
            <a:schemeClr val="accent1">
              <a:lumMod val="7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dirty="0">
                <a:solidFill>
                  <a:schemeClr val="bg1"/>
                </a:solidFill>
                <a:latin typeface="Trebuchet MS"/>
                <a:ea typeface="Trebuchet MS"/>
                <a:cs typeface="Trebuchet MS"/>
                <a:sym typeface="Trebuchet MS"/>
              </a:rPr>
              <a:t>TOOLS USED</a:t>
            </a:r>
            <a:endParaRPr sz="2500" b="1" dirty="0">
              <a:solidFill>
                <a:schemeClr val="bg1"/>
              </a:solidFill>
              <a:latin typeface="Trebuchet MS"/>
              <a:ea typeface="Trebuchet MS"/>
              <a:cs typeface="Trebuchet MS"/>
              <a:sym typeface="Trebuchet MS"/>
            </a:endParaRPr>
          </a:p>
        </p:txBody>
      </p:sp>
      <p:pic>
        <p:nvPicPr>
          <p:cNvPr id="2097155" name="Google Shape;156;p16"/>
          <p:cNvPicPr preferRelativeResize="0">
            <a:picLocks/>
          </p:cNvPicPr>
          <p:nvPr/>
        </p:nvPicPr>
        <p:blipFill rotWithShape="1">
          <a:blip r:embed="rId3">
            <a:alphaModFix/>
          </a:blip>
          <a:srcRect r="5784"/>
          <a:stretch>
            <a:fillRect/>
          </a:stretch>
        </p:blipFill>
        <p:spPr>
          <a:xfrm>
            <a:off x="635975" y="1237725"/>
            <a:ext cx="1386200" cy="3417990"/>
          </a:xfrm>
          <a:prstGeom prst="rect">
            <a:avLst/>
          </a:prstGeom>
          <a:noFill/>
          <a:ln>
            <a:noFill/>
          </a:ln>
        </p:spPr>
      </p:pic>
      <p:pic>
        <p:nvPicPr>
          <p:cNvPr id="3" name="Picture 2">
            <a:extLst>
              <a:ext uri="{FF2B5EF4-FFF2-40B4-BE49-F238E27FC236}">
                <a16:creationId xmlns:a16="http://schemas.microsoft.com/office/drawing/2014/main" id="{DAA7B426-D337-266C-B9A5-8286DE7AD635}"/>
              </a:ext>
            </a:extLst>
          </p:cNvPr>
          <p:cNvPicPr>
            <a:picLocks noChangeAspect="1"/>
          </p:cNvPicPr>
          <p:nvPr/>
        </p:nvPicPr>
        <p:blipFill>
          <a:blip r:embed="rId4"/>
          <a:srcRect l="10961" t="14222" r="9231" b="12776"/>
          <a:stretch>
            <a:fillRect/>
          </a:stretch>
        </p:blipFill>
        <p:spPr>
          <a:xfrm>
            <a:off x="6987540" y="2280474"/>
            <a:ext cx="2004465" cy="201720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048614" name="Google Shape;147;p15"/>
          <p:cNvSpPr txBox="1">
            <a:spLocks noGrp="1"/>
          </p:cNvSpPr>
          <p:nvPr>
            <p:ph type="title"/>
          </p:nvPr>
        </p:nvSpPr>
        <p:spPr>
          <a:xfrm>
            <a:off x="530750" y="1179000"/>
            <a:ext cx="5554500" cy="3781200"/>
          </a:xfrm>
          <a:prstGeom prst="rect">
            <a:avLst/>
          </a:prstGeom>
        </p:spPr>
        <p:txBody>
          <a:bodyPr spcFirstLastPara="1" wrap="square" lIns="91425" tIns="91425" rIns="91425" bIns="91425" anchor="ctr" anchorCtr="0">
            <a:normAutofit fontScale="90000"/>
          </a:bodyPr>
          <a:lstStyle/>
          <a:p>
            <a:pPr marL="457200" lvl="0" indent="-320040" algn="l" rtl="0">
              <a:lnSpc>
                <a:spcPct val="150000"/>
              </a:lnSpc>
              <a:spcBef>
                <a:spcPts val="1200"/>
              </a:spcBef>
              <a:spcAft>
                <a:spcPts val="0"/>
              </a:spcAft>
              <a:buSzPct val="100000"/>
              <a:buFont typeface="Arial"/>
              <a:buChar char="❖"/>
            </a:pPr>
            <a:r>
              <a:rPr lang="en" sz="1600" b="1" dirty="0">
                <a:latin typeface="Arial"/>
                <a:ea typeface="Arial"/>
                <a:cs typeface="Arial"/>
                <a:sym typeface="Arial"/>
              </a:rPr>
              <a:t>To analyze market capitalization, volatility, and trading performance.</a:t>
            </a:r>
            <a:endParaRPr sz="1600" b="1" dirty="0">
              <a:latin typeface="Arial"/>
              <a:ea typeface="Arial"/>
              <a:cs typeface="Arial"/>
              <a:sym typeface="Arial"/>
            </a:endParaRPr>
          </a:p>
          <a:p>
            <a:pPr marL="457200" lvl="0" indent="-320040" algn="l" rtl="0">
              <a:lnSpc>
                <a:spcPct val="150000"/>
              </a:lnSpc>
              <a:spcBef>
                <a:spcPts val="0"/>
              </a:spcBef>
              <a:spcAft>
                <a:spcPts val="0"/>
              </a:spcAft>
              <a:buSzPct val="100000"/>
              <a:buFont typeface="Arial"/>
              <a:buChar char="❖"/>
            </a:pPr>
            <a:r>
              <a:rPr lang="en" sz="1600" b="1" dirty="0">
                <a:latin typeface="Arial"/>
                <a:ea typeface="Arial"/>
                <a:cs typeface="Arial"/>
                <a:sym typeface="Arial"/>
              </a:rPr>
              <a:t>To study sector-wise share distribution and dividend distribution.</a:t>
            </a:r>
            <a:endParaRPr sz="1600" b="1" dirty="0">
              <a:latin typeface="Arial"/>
              <a:ea typeface="Arial"/>
              <a:cs typeface="Arial"/>
              <a:sym typeface="Arial"/>
            </a:endParaRPr>
          </a:p>
          <a:p>
            <a:pPr marL="457200" lvl="0" indent="-320040" algn="l" rtl="0">
              <a:lnSpc>
                <a:spcPct val="150000"/>
              </a:lnSpc>
              <a:spcBef>
                <a:spcPts val="0"/>
              </a:spcBef>
              <a:spcAft>
                <a:spcPts val="0"/>
              </a:spcAft>
              <a:buSzPct val="100000"/>
              <a:buFont typeface="Arial"/>
              <a:buChar char="❖"/>
            </a:pPr>
            <a:r>
              <a:rPr lang="en" sz="1600" b="1" dirty="0">
                <a:latin typeface="Arial"/>
                <a:ea typeface="Arial"/>
                <a:cs typeface="Arial"/>
                <a:sym typeface="Arial"/>
              </a:rPr>
              <a:t>To identify top shareholders, high-volume sectors, and buy-sell trends.</a:t>
            </a:r>
            <a:endParaRPr sz="1600" b="1" dirty="0">
              <a:latin typeface="Arial"/>
              <a:ea typeface="Arial"/>
              <a:cs typeface="Arial"/>
              <a:sym typeface="Arial"/>
            </a:endParaRPr>
          </a:p>
          <a:p>
            <a:pPr marL="457200" lvl="0" indent="-320040" algn="l" rtl="0">
              <a:lnSpc>
                <a:spcPct val="150000"/>
              </a:lnSpc>
              <a:spcBef>
                <a:spcPts val="0"/>
              </a:spcBef>
              <a:spcAft>
                <a:spcPts val="0"/>
              </a:spcAft>
              <a:buSzPct val="100000"/>
              <a:buFont typeface="Arial"/>
              <a:buChar char="❖"/>
            </a:pPr>
            <a:r>
              <a:rPr lang="en" sz="1600" b="1" dirty="0">
                <a:latin typeface="Arial"/>
                <a:ea typeface="Arial"/>
                <a:cs typeface="Arial"/>
                <a:sym typeface="Arial"/>
              </a:rPr>
              <a:t>To visualize insights using Excel, Power BI, Tableau, and SQL.</a:t>
            </a:r>
            <a:endParaRPr sz="1600" b="1" dirty="0">
              <a:latin typeface="Arial"/>
              <a:ea typeface="Arial"/>
              <a:cs typeface="Arial"/>
              <a:sym typeface="Arial"/>
            </a:endParaRPr>
          </a:p>
          <a:p>
            <a:pPr marL="457200" lvl="0" indent="-320040" algn="l" rtl="0">
              <a:lnSpc>
                <a:spcPct val="150000"/>
              </a:lnSpc>
              <a:spcBef>
                <a:spcPts val="0"/>
              </a:spcBef>
              <a:spcAft>
                <a:spcPts val="0"/>
              </a:spcAft>
              <a:buSzPct val="100000"/>
              <a:buFont typeface="Arial"/>
              <a:buChar char="❖"/>
            </a:pPr>
            <a:r>
              <a:rPr lang="en" sz="1600" b="1" dirty="0">
                <a:latin typeface="Arial"/>
                <a:ea typeface="Arial"/>
                <a:cs typeface="Arial"/>
                <a:sym typeface="Arial"/>
              </a:rPr>
              <a:t>To provide data-driven recommendations for traders and investors.</a:t>
            </a:r>
            <a:endParaRPr sz="1600" b="1" dirty="0">
              <a:latin typeface="Arial"/>
              <a:ea typeface="Arial"/>
              <a:cs typeface="Arial"/>
              <a:sym typeface="Arial"/>
            </a:endParaRPr>
          </a:p>
          <a:p>
            <a:pPr marL="0" lvl="0" indent="0" algn="l" rtl="0">
              <a:spcBef>
                <a:spcPts val="1200"/>
              </a:spcBef>
              <a:spcAft>
                <a:spcPts val="0"/>
              </a:spcAft>
              <a:buNone/>
            </a:pPr>
            <a:endParaRPr sz="1450" dirty="0"/>
          </a:p>
        </p:txBody>
      </p:sp>
      <p:sp>
        <p:nvSpPr>
          <p:cNvPr id="1048615" name="Google Shape;148;p15"/>
          <p:cNvSpPr/>
          <p:nvPr/>
        </p:nvSpPr>
        <p:spPr>
          <a:xfrm>
            <a:off x="401600" y="321775"/>
            <a:ext cx="5812800" cy="681000"/>
          </a:xfrm>
          <a:prstGeom prst="horizontalScroll">
            <a:avLst>
              <a:gd name="adj" fmla="val 12500"/>
            </a:avLst>
          </a:prstGeom>
          <a:solidFill>
            <a:schemeClr val="accent1">
              <a:lumMod val="7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dirty="0">
                <a:solidFill>
                  <a:schemeClr val="bg1"/>
                </a:solidFill>
                <a:latin typeface="Trebuchet MS"/>
                <a:ea typeface="Trebuchet MS"/>
                <a:cs typeface="Trebuchet MS"/>
                <a:sym typeface="Trebuchet MS"/>
              </a:rPr>
              <a:t>OBJECTIVES</a:t>
            </a:r>
            <a:endParaRPr sz="2500" b="1" dirty="0">
              <a:solidFill>
                <a:schemeClr val="bg1"/>
              </a:solidFill>
              <a:latin typeface="Trebuchet MS"/>
              <a:ea typeface="Trebuchet MS"/>
              <a:cs typeface="Trebuchet MS"/>
              <a:sym typeface="Trebuchet MS"/>
            </a:endParaRPr>
          </a:p>
        </p:txBody>
      </p:sp>
      <p:pic>
        <p:nvPicPr>
          <p:cNvPr id="2" name="Picture 1">
            <a:extLst>
              <a:ext uri="{FF2B5EF4-FFF2-40B4-BE49-F238E27FC236}">
                <a16:creationId xmlns:a16="http://schemas.microsoft.com/office/drawing/2014/main" id="{5ED01D69-AC7F-8EAA-9FE6-9F5959D6228C}"/>
              </a:ext>
            </a:extLst>
          </p:cNvPr>
          <p:cNvPicPr>
            <a:picLocks noChangeAspect="1"/>
          </p:cNvPicPr>
          <p:nvPr/>
        </p:nvPicPr>
        <p:blipFill>
          <a:blip r:embed="rId3"/>
          <a:srcRect l="10961" t="14222" r="9231" b="12776"/>
          <a:stretch>
            <a:fillRect/>
          </a:stretch>
        </p:blipFill>
        <p:spPr>
          <a:xfrm>
            <a:off x="6987540" y="2280474"/>
            <a:ext cx="2004465" cy="201720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048622" name="Google Shape;162;p17"/>
          <p:cNvSpPr txBox="1">
            <a:spLocks noGrp="1"/>
          </p:cNvSpPr>
          <p:nvPr>
            <p:ph type="title"/>
          </p:nvPr>
        </p:nvSpPr>
        <p:spPr>
          <a:xfrm>
            <a:off x="10265350" y="1801550"/>
            <a:ext cx="200100" cy="828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sz="100"/>
          </a:p>
        </p:txBody>
      </p:sp>
      <p:sp>
        <p:nvSpPr>
          <p:cNvPr id="1048623" name="Google Shape;164;p17"/>
          <p:cNvSpPr/>
          <p:nvPr/>
        </p:nvSpPr>
        <p:spPr>
          <a:xfrm>
            <a:off x="432080" y="280925"/>
            <a:ext cx="5812800" cy="681000"/>
          </a:xfrm>
          <a:prstGeom prst="horizontalScroll">
            <a:avLst>
              <a:gd name="adj" fmla="val 12500"/>
            </a:avLst>
          </a:prstGeom>
          <a:solidFill>
            <a:schemeClr val="accent1">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dirty="0">
                <a:solidFill>
                  <a:schemeClr val="bg1"/>
                </a:solidFill>
                <a:latin typeface="Trebuchet MS"/>
                <a:ea typeface="Trebuchet MS"/>
                <a:cs typeface="Trebuchet MS"/>
                <a:sym typeface="Trebuchet MS"/>
              </a:rPr>
              <a:t>METHODOLOGY</a:t>
            </a:r>
            <a:endParaRPr sz="2500" b="1" dirty="0">
              <a:solidFill>
                <a:schemeClr val="bg1"/>
              </a:solidFill>
              <a:latin typeface="Trebuchet MS"/>
              <a:ea typeface="Trebuchet MS"/>
              <a:cs typeface="Trebuchet MS"/>
              <a:sym typeface="Trebuchet MS"/>
            </a:endParaRPr>
          </a:p>
        </p:txBody>
      </p:sp>
      <p:sp>
        <p:nvSpPr>
          <p:cNvPr id="1048624" name="Google Shape;165;p17"/>
          <p:cNvSpPr/>
          <p:nvPr/>
        </p:nvSpPr>
        <p:spPr>
          <a:xfrm>
            <a:off x="1153175" y="1050000"/>
            <a:ext cx="4180500" cy="575400"/>
          </a:xfrm>
          <a:prstGeom prst="roundRect">
            <a:avLst>
              <a:gd name="adj" fmla="val 16667"/>
            </a:avLst>
          </a:prstGeom>
          <a:solidFill>
            <a:schemeClr val="tx1"/>
          </a:solidFill>
          <a:ln w="9525" cap="flat" cmpd="sng">
            <a:solidFill>
              <a:schemeClr val="accent1">
                <a:lumMod val="20000"/>
                <a:lumOff val="8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solidFill>
                  <a:schemeClr val="bg1"/>
                </a:solidFill>
                <a:latin typeface="Lexend"/>
                <a:ea typeface="Lexend"/>
                <a:cs typeface="Lexend"/>
                <a:sym typeface="Lexend"/>
              </a:rPr>
              <a:t>DATA COLLECTION </a:t>
            </a:r>
            <a:endParaRPr sz="1500" b="1" dirty="0">
              <a:solidFill>
                <a:schemeClr val="bg1"/>
              </a:solidFill>
              <a:latin typeface="Lexend"/>
              <a:ea typeface="Lexend"/>
              <a:cs typeface="Lexend"/>
              <a:sym typeface="Lexend"/>
            </a:endParaRPr>
          </a:p>
        </p:txBody>
      </p:sp>
      <p:sp>
        <p:nvSpPr>
          <p:cNvPr id="1048625" name="Google Shape;166;p17"/>
          <p:cNvSpPr/>
          <p:nvPr/>
        </p:nvSpPr>
        <p:spPr>
          <a:xfrm>
            <a:off x="1505324" y="1801550"/>
            <a:ext cx="3546735" cy="575400"/>
          </a:xfrm>
          <a:prstGeom prst="roundRect">
            <a:avLst>
              <a:gd name="adj" fmla="val 16667"/>
            </a:avLst>
          </a:prstGeom>
          <a:solidFill>
            <a:srgbClr val="7030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solidFill>
                  <a:schemeClr val="bg1"/>
                </a:solidFill>
                <a:latin typeface="Lexend"/>
                <a:ea typeface="Lexend"/>
                <a:cs typeface="Lexend"/>
                <a:sym typeface="Lexend"/>
              </a:rPr>
              <a:t>DATA CLEANING</a:t>
            </a:r>
            <a:endParaRPr sz="1500" dirty="0">
              <a:solidFill>
                <a:schemeClr val="bg1"/>
              </a:solidFill>
              <a:latin typeface="Lato"/>
              <a:ea typeface="Lato"/>
              <a:cs typeface="Lato"/>
              <a:sym typeface="Lato"/>
            </a:endParaRPr>
          </a:p>
        </p:txBody>
      </p:sp>
      <p:sp>
        <p:nvSpPr>
          <p:cNvPr id="1048626" name="Google Shape;167;p17"/>
          <p:cNvSpPr/>
          <p:nvPr/>
        </p:nvSpPr>
        <p:spPr>
          <a:xfrm>
            <a:off x="1834275" y="2553100"/>
            <a:ext cx="2865300" cy="575400"/>
          </a:xfrm>
          <a:prstGeom prst="roundRect">
            <a:avLst>
              <a:gd name="adj" fmla="val 16667"/>
            </a:avLst>
          </a:prstGeom>
          <a:solidFill>
            <a:schemeClr val="accent2">
              <a:lumMod val="60000"/>
              <a:lumOff val="4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chemeClr val="tx1"/>
                </a:solidFill>
                <a:latin typeface="Lexend"/>
                <a:ea typeface="Lexend"/>
                <a:cs typeface="Lexend"/>
                <a:sym typeface="Lexend"/>
              </a:rPr>
              <a:t>DATA ANALYSIS USING EXCEL AND SQL</a:t>
            </a:r>
            <a:endParaRPr dirty="0">
              <a:solidFill>
                <a:schemeClr val="tx1"/>
              </a:solidFill>
              <a:latin typeface="Lato"/>
              <a:ea typeface="Lato"/>
              <a:cs typeface="Lato"/>
              <a:sym typeface="Lato"/>
            </a:endParaRPr>
          </a:p>
        </p:txBody>
      </p:sp>
      <p:sp>
        <p:nvSpPr>
          <p:cNvPr id="1048627" name="Google Shape;168;p17"/>
          <p:cNvSpPr/>
          <p:nvPr/>
        </p:nvSpPr>
        <p:spPr>
          <a:xfrm>
            <a:off x="2074175" y="3304650"/>
            <a:ext cx="2338500" cy="657600"/>
          </a:xfrm>
          <a:prstGeom prst="roundRect">
            <a:avLst>
              <a:gd name="adj" fmla="val 16667"/>
            </a:avLst>
          </a:prstGeom>
          <a:solidFill>
            <a:schemeClr val="accent4">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dirty="0">
                <a:solidFill>
                  <a:schemeClr val="bg1"/>
                </a:solidFill>
                <a:latin typeface="Lexend"/>
                <a:ea typeface="Lexend"/>
                <a:cs typeface="Lexend"/>
                <a:sym typeface="Lexend"/>
              </a:rPr>
              <a:t>DATA VISUALIZATION USING POWERBI AND TABLEAU</a:t>
            </a:r>
            <a:endParaRPr sz="1300" dirty="0">
              <a:solidFill>
                <a:schemeClr val="bg1"/>
              </a:solidFill>
              <a:latin typeface="Lato"/>
              <a:ea typeface="Lato"/>
              <a:cs typeface="Lato"/>
              <a:sym typeface="Lato"/>
            </a:endParaRPr>
          </a:p>
        </p:txBody>
      </p:sp>
      <p:sp>
        <p:nvSpPr>
          <p:cNvPr id="1048628" name="Google Shape;169;p17"/>
          <p:cNvSpPr/>
          <p:nvPr/>
        </p:nvSpPr>
        <p:spPr>
          <a:xfrm>
            <a:off x="2362725" y="4138400"/>
            <a:ext cx="1714500" cy="575400"/>
          </a:xfrm>
          <a:prstGeom prst="roundRect">
            <a:avLst>
              <a:gd name="adj" fmla="val 16667"/>
            </a:avLst>
          </a:prstGeom>
          <a:solidFill>
            <a:schemeClr val="accent6">
              <a:lumMod val="7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dirty="0">
                <a:solidFill>
                  <a:schemeClr val="bg1"/>
                </a:solidFill>
                <a:latin typeface="Lexend"/>
                <a:ea typeface="Lexend"/>
                <a:cs typeface="Lexend"/>
                <a:sym typeface="Lexend"/>
              </a:rPr>
              <a:t>INSIGHTS AND CONCLUSION</a:t>
            </a:r>
            <a:endParaRPr sz="1300" dirty="0">
              <a:solidFill>
                <a:schemeClr val="bg1"/>
              </a:solidFill>
              <a:latin typeface="Lato"/>
              <a:ea typeface="Lato"/>
              <a:cs typeface="Lato"/>
              <a:sym typeface="Lato"/>
            </a:endParaRPr>
          </a:p>
        </p:txBody>
      </p:sp>
      <p:pic>
        <p:nvPicPr>
          <p:cNvPr id="2" name="Picture 1">
            <a:extLst>
              <a:ext uri="{FF2B5EF4-FFF2-40B4-BE49-F238E27FC236}">
                <a16:creationId xmlns:a16="http://schemas.microsoft.com/office/drawing/2014/main" id="{DE65E081-20D7-E9B7-5943-EBD59CF00AE2}"/>
              </a:ext>
            </a:extLst>
          </p:cNvPr>
          <p:cNvPicPr>
            <a:picLocks noChangeAspect="1"/>
          </p:cNvPicPr>
          <p:nvPr/>
        </p:nvPicPr>
        <p:blipFill>
          <a:blip r:embed="rId3"/>
          <a:srcRect l="10961" t="14222" r="9231" b="12776"/>
          <a:stretch>
            <a:fillRect/>
          </a:stretch>
        </p:blipFill>
        <p:spPr>
          <a:xfrm>
            <a:off x="6987540" y="2280474"/>
            <a:ext cx="2004465" cy="201720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048631" name="Google Shape;174;p18"/>
          <p:cNvSpPr txBox="1">
            <a:spLocks noGrp="1"/>
          </p:cNvSpPr>
          <p:nvPr>
            <p:ph type="title"/>
          </p:nvPr>
        </p:nvSpPr>
        <p:spPr>
          <a:xfrm>
            <a:off x="9220200" y="1762550"/>
            <a:ext cx="1785600" cy="681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sz="600"/>
          </a:p>
        </p:txBody>
      </p:sp>
      <p:sp>
        <p:nvSpPr>
          <p:cNvPr id="1048632" name="Google Shape;175;p18"/>
          <p:cNvSpPr/>
          <p:nvPr/>
        </p:nvSpPr>
        <p:spPr>
          <a:xfrm>
            <a:off x="1041680" y="312625"/>
            <a:ext cx="5812800" cy="681000"/>
          </a:xfrm>
          <a:prstGeom prst="horizontalScroll">
            <a:avLst>
              <a:gd name="adj" fmla="val 12500"/>
            </a:avLst>
          </a:prstGeom>
          <a:solidFill>
            <a:schemeClr val="accent1">
              <a:lumMod val="75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dirty="0">
                <a:solidFill>
                  <a:schemeClr val="bg1"/>
                </a:solidFill>
                <a:latin typeface="Trebuchet MS"/>
                <a:ea typeface="Trebuchet MS"/>
                <a:cs typeface="Trebuchet MS"/>
                <a:sym typeface="Trebuchet MS"/>
              </a:rPr>
              <a:t>Key Performance Indicator’s</a:t>
            </a:r>
            <a:endParaRPr sz="2500" b="1" dirty="0">
              <a:solidFill>
                <a:schemeClr val="bg1"/>
              </a:solidFill>
              <a:latin typeface="Trebuchet MS"/>
              <a:ea typeface="Trebuchet MS"/>
              <a:cs typeface="Trebuchet MS"/>
              <a:sym typeface="Trebuchet MS"/>
            </a:endParaRPr>
          </a:p>
        </p:txBody>
      </p:sp>
      <p:sp>
        <p:nvSpPr>
          <p:cNvPr id="1048633" name="Google Shape;177;p18"/>
          <p:cNvSpPr txBox="1"/>
          <p:nvPr/>
        </p:nvSpPr>
        <p:spPr>
          <a:xfrm>
            <a:off x="958592" y="1075647"/>
            <a:ext cx="4632000" cy="3939510"/>
          </a:xfrm>
          <a:prstGeom prst="rect">
            <a:avLst/>
          </a:prstGeom>
          <a:noFill/>
          <a:ln>
            <a:noFill/>
          </a:ln>
        </p:spPr>
        <p:txBody>
          <a:bodyPr spcFirstLastPara="1" wrap="square" lIns="91425" tIns="91425" rIns="91425" bIns="91425" anchor="t" anchorCtr="0">
            <a:spAutoFit/>
          </a:bodyPr>
          <a:lstStyle/>
          <a:p>
            <a:pPr marL="457200" lvl="0" indent="-311150" algn="l" rtl="0">
              <a:lnSpc>
                <a:spcPct val="150000"/>
              </a:lnSpc>
              <a:spcBef>
                <a:spcPts val="1200"/>
              </a:spcBef>
              <a:spcAft>
                <a:spcPts val="0"/>
              </a:spcAft>
              <a:buClr>
                <a:schemeClr val="lt1"/>
              </a:buClr>
              <a:buSzPts val="1300"/>
              <a:buChar char="❖"/>
            </a:pPr>
            <a:r>
              <a:rPr lang="en" sz="1300" b="1" dirty="0">
                <a:solidFill>
                  <a:schemeClr val="lt1"/>
                </a:solidFill>
              </a:rPr>
              <a:t>Total Market Capitalization</a:t>
            </a:r>
            <a:endParaRPr sz="1300" b="1" dirty="0">
              <a:solidFill>
                <a:schemeClr val="lt1"/>
              </a:solidFill>
            </a:endParaRP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Trader Performance (P&amp;L)</a:t>
            </a:r>
            <a:endParaRPr sz="1300" b="1" dirty="0">
              <a:solidFill>
                <a:schemeClr val="lt1"/>
              </a:solidFill>
            </a:endParaRP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Volatility</a:t>
            </a:r>
            <a:endParaRPr sz="1300" b="1" dirty="0">
              <a:solidFill>
                <a:schemeClr val="lt1"/>
              </a:solidFill>
            </a:endParaRP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Portfolio Return %</a:t>
            </a:r>
            <a:endParaRPr sz="1300" b="1" dirty="0">
              <a:solidFill>
                <a:schemeClr val="lt1"/>
              </a:solidFill>
            </a:endParaRP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Average Daily Trading Volume</a:t>
            </a:r>
            <a:endParaRPr sz="1300" b="1" dirty="0">
              <a:solidFill>
                <a:schemeClr val="lt1"/>
              </a:solidFill>
            </a:endParaRP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Top Performing Sector</a:t>
            </a: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Sharp Ratio</a:t>
            </a: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Trade Win Ratio</a:t>
            </a: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Order Execution Rate</a:t>
            </a: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Dividend Yield</a:t>
            </a:r>
          </a:p>
          <a:p>
            <a:pPr marL="457200" lvl="0" indent="-311150" algn="l" rtl="0">
              <a:lnSpc>
                <a:spcPct val="150000"/>
              </a:lnSpc>
              <a:spcBef>
                <a:spcPts val="0"/>
              </a:spcBef>
              <a:spcAft>
                <a:spcPts val="0"/>
              </a:spcAft>
              <a:buClr>
                <a:schemeClr val="lt1"/>
              </a:buClr>
              <a:buSzPts val="1300"/>
              <a:buChar char="❖"/>
            </a:pPr>
            <a:r>
              <a:rPr lang="en" sz="1300" b="1" dirty="0">
                <a:solidFill>
                  <a:schemeClr val="lt1"/>
                </a:solidFill>
              </a:rPr>
              <a:t>Portfolio Value </a:t>
            </a:r>
            <a:endParaRPr sz="1300" b="1" dirty="0">
              <a:solidFill>
                <a:schemeClr val="lt1"/>
              </a:solidFill>
            </a:endParaRPr>
          </a:p>
          <a:p>
            <a:pPr marL="457200" lvl="0" indent="-311150" algn="l" rtl="0">
              <a:lnSpc>
                <a:spcPct val="150000"/>
              </a:lnSpc>
              <a:spcBef>
                <a:spcPts val="0"/>
              </a:spcBef>
              <a:spcAft>
                <a:spcPts val="0"/>
              </a:spcAft>
              <a:buClr>
                <a:schemeClr val="lt1"/>
              </a:buClr>
              <a:buSzPts val="1300"/>
              <a:buChar char="❖"/>
            </a:pPr>
            <a:endParaRPr sz="1300" b="1" dirty="0">
              <a:solidFill>
                <a:schemeClr val="lt1"/>
              </a:solidFill>
            </a:endParaRPr>
          </a:p>
        </p:txBody>
      </p:sp>
      <p:pic>
        <p:nvPicPr>
          <p:cNvPr id="2" name="Picture 1">
            <a:extLst>
              <a:ext uri="{FF2B5EF4-FFF2-40B4-BE49-F238E27FC236}">
                <a16:creationId xmlns:a16="http://schemas.microsoft.com/office/drawing/2014/main" id="{101F1947-2E88-DC02-5F20-DE60B0D2AE8B}"/>
              </a:ext>
            </a:extLst>
          </p:cNvPr>
          <p:cNvPicPr>
            <a:picLocks noChangeAspect="1"/>
          </p:cNvPicPr>
          <p:nvPr/>
        </p:nvPicPr>
        <p:blipFill>
          <a:blip r:embed="rId3"/>
          <a:srcRect l="10961" t="14222" r="9231" b="12776"/>
          <a:stretch>
            <a:fillRect/>
          </a:stretch>
        </p:blipFill>
        <p:spPr>
          <a:xfrm>
            <a:off x="7025641" y="2271254"/>
            <a:ext cx="1844040" cy="18557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048636" name="Google Shape;182;p19"/>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dirty="0"/>
          </a:p>
        </p:txBody>
      </p:sp>
      <p:sp>
        <p:nvSpPr>
          <p:cNvPr id="1048637" name="Google Shape;183;p19"/>
          <p:cNvSpPr/>
          <p:nvPr/>
        </p:nvSpPr>
        <p:spPr>
          <a:xfrm>
            <a:off x="1540450" y="86675"/>
            <a:ext cx="5812800" cy="564000"/>
          </a:xfrm>
          <a:prstGeom prst="horizontalScroll">
            <a:avLst>
              <a:gd name="adj" fmla="val 12500"/>
            </a:avLst>
          </a:prstGeom>
          <a:solidFill>
            <a:schemeClr val="accent1">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dirty="0">
                <a:solidFill>
                  <a:schemeClr val="bg1"/>
                </a:solidFill>
                <a:latin typeface="Trebuchet MS"/>
                <a:ea typeface="Trebuchet MS"/>
                <a:cs typeface="Trebuchet MS"/>
                <a:sym typeface="Trebuchet MS"/>
              </a:rPr>
              <a:t>EXCEL DASHBOARD</a:t>
            </a:r>
            <a:endParaRPr sz="2500" b="1" dirty="0">
              <a:solidFill>
                <a:schemeClr val="bg1"/>
              </a:solidFill>
              <a:latin typeface="Trebuchet MS"/>
              <a:ea typeface="Trebuchet MS"/>
              <a:cs typeface="Trebuchet MS"/>
              <a:sym typeface="Trebuchet MS"/>
            </a:endParaRPr>
          </a:p>
        </p:txBody>
      </p:sp>
      <p:pic>
        <p:nvPicPr>
          <p:cNvPr id="2" name="Picture 1">
            <a:extLst>
              <a:ext uri="{FF2B5EF4-FFF2-40B4-BE49-F238E27FC236}">
                <a16:creationId xmlns:a16="http://schemas.microsoft.com/office/drawing/2014/main" id="{06D7B107-67C9-7460-71A6-3BAB691D375B}"/>
              </a:ext>
            </a:extLst>
          </p:cNvPr>
          <p:cNvPicPr>
            <a:picLocks noChangeAspect="1"/>
          </p:cNvPicPr>
          <p:nvPr/>
        </p:nvPicPr>
        <p:blipFill>
          <a:blip r:embed="rId3"/>
          <a:srcRect l="10961" t="14222" r="9231" b="12776"/>
          <a:stretch>
            <a:fillRect/>
          </a:stretch>
        </p:blipFill>
        <p:spPr>
          <a:xfrm>
            <a:off x="8502869" y="86675"/>
            <a:ext cx="546244" cy="54971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 name="Picture 3">
            <a:extLst>
              <a:ext uri="{FF2B5EF4-FFF2-40B4-BE49-F238E27FC236}">
                <a16:creationId xmlns:a16="http://schemas.microsoft.com/office/drawing/2014/main" id="{0A1B794B-56FF-EC35-58FE-3B45FBED211F}"/>
              </a:ext>
            </a:extLst>
          </p:cNvPr>
          <p:cNvPicPr>
            <a:picLocks noChangeAspect="1"/>
          </p:cNvPicPr>
          <p:nvPr/>
        </p:nvPicPr>
        <p:blipFill>
          <a:blip r:embed="rId4"/>
          <a:srcRect t="389" r="96"/>
          <a:stretch>
            <a:fillRect/>
          </a:stretch>
        </p:blipFill>
        <p:spPr>
          <a:xfrm>
            <a:off x="20002" y="650675"/>
            <a:ext cx="9123998" cy="4492825"/>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B63BC6B2-9083-CC28-0FCD-73D36D52F376}"/>
              </a:ext>
            </a:extLst>
          </p:cNvPr>
          <p:cNvPicPr>
            <a:picLocks noChangeAspect="1"/>
          </p:cNvPicPr>
          <p:nvPr/>
        </p:nvPicPr>
        <p:blipFill>
          <a:blip r:embed="rId5"/>
          <a:stretch>
            <a:fillRect/>
          </a:stretch>
        </p:blipFill>
        <p:spPr>
          <a:xfrm>
            <a:off x="2591995" y="187016"/>
            <a:ext cx="419784" cy="3490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048640" name="Google Shape;189;p20"/>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dirty="0"/>
          </a:p>
        </p:txBody>
      </p:sp>
      <p:sp>
        <p:nvSpPr>
          <p:cNvPr id="1048641" name="Google Shape;190;p20"/>
          <p:cNvSpPr/>
          <p:nvPr/>
        </p:nvSpPr>
        <p:spPr>
          <a:xfrm>
            <a:off x="1540450" y="86675"/>
            <a:ext cx="5812800" cy="564000"/>
          </a:xfrm>
          <a:prstGeom prst="horizontalScroll">
            <a:avLst>
              <a:gd name="adj" fmla="val 12500"/>
            </a:avLst>
          </a:prstGeom>
          <a:solidFill>
            <a:schemeClr val="accent1">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dirty="0">
                <a:solidFill>
                  <a:schemeClr val="bg1"/>
                </a:solidFill>
                <a:latin typeface="Trebuchet MS"/>
                <a:ea typeface="Trebuchet MS"/>
                <a:cs typeface="Trebuchet MS"/>
                <a:sym typeface="Trebuchet MS"/>
              </a:rPr>
              <a:t>POWERBI DASHBOARD</a:t>
            </a:r>
            <a:endParaRPr sz="2500" b="1" dirty="0">
              <a:solidFill>
                <a:schemeClr val="bg1"/>
              </a:solidFill>
              <a:latin typeface="Trebuchet MS"/>
              <a:ea typeface="Trebuchet MS"/>
              <a:cs typeface="Trebuchet MS"/>
              <a:sym typeface="Trebuchet MS"/>
            </a:endParaRPr>
          </a:p>
        </p:txBody>
      </p:sp>
      <p:pic>
        <p:nvPicPr>
          <p:cNvPr id="2" name="Picture 1">
            <a:extLst>
              <a:ext uri="{FF2B5EF4-FFF2-40B4-BE49-F238E27FC236}">
                <a16:creationId xmlns:a16="http://schemas.microsoft.com/office/drawing/2014/main" id="{9833296F-22C4-77E1-40CF-418D585FC640}"/>
              </a:ext>
            </a:extLst>
          </p:cNvPr>
          <p:cNvPicPr>
            <a:picLocks noChangeAspect="1"/>
          </p:cNvPicPr>
          <p:nvPr/>
        </p:nvPicPr>
        <p:blipFill>
          <a:blip r:embed="rId3"/>
          <a:srcRect l="10961" t="14222" r="9231" b="12776"/>
          <a:stretch>
            <a:fillRect/>
          </a:stretch>
        </p:blipFill>
        <p:spPr>
          <a:xfrm>
            <a:off x="8539992" y="77716"/>
            <a:ext cx="536895" cy="5403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Picture 2" descr="A screenshot of a stock market dashboard&#10;&#10;AI-generated content may be incorrect.">
            <a:extLst>
              <a:ext uri="{FF2B5EF4-FFF2-40B4-BE49-F238E27FC236}">
                <a16:creationId xmlns:a16="http://schemas.microsoft.com/office/drawing/2014/main" id="{9B67F7A3-D33E-8065-80AE-BBF30470E817}"/>
              </a:ext>
            </a:extLst>
          </p:cNvPr>
          <p:cNvPicPr>
            <a:picLocks noChangeAspect="1"/>
          </p:cNvPicPr>
          <p:nvPr/>
        </p:nvPicPr>
        <p:blipFill>
          <a:blip r:embed="rId4"/>
          <a:stretch>
            <a:fillRect/>
          </a:stretch>
        </p:blipFill>
        <p:spPr>
          <a:xfrm>
            <a:off x="0" y="650674"/>
            <a:ext cx="9144000" cy="4492825"/>
          </a:xfrm>
          <a:prstGeom prst="rect">
            <a:avLst/>
          </a:prstGeom>
        </p:spPr>
      </p:pic>
      <p:pic>
        <p:nvPicPr>
          <p:cNvPr id="5" name="Picture 4">
            <a:extLst>
              <a:ext uri="{FF2B5EF4-FFF2-40B4-BE49-F238E27FC236}">
                <a16:creationId xmlns:a16="http://schemas.microsoft.com/office/drawing/2014/main" id="{44419D4F-CD1B-F74F-D0DD-C457A9099C4B}"/>
              </a:ext>
            </a:extLst>
          </p:cNvPr>
          <p:cNvPicPr>
            <a:picLocks noChangeAspect="1"/>
          </p:cNvPicPr>
          <p:nvPr/>
        </p:nvPicPr>
        <p:blipFill>
          <a:blip r:embed="rId5"/>
          <a:stretch>
            <a:fillRect/>
          </a:stretch>
        </p:blipFill>
        <p:spPr>
          <a:xfrm>
            <a:off x="2451711" y="161653"/>
            <a:ext cx="381392" cy="3813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048644" name="Google Shape;196;p21"/>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
        <p:nvSpPr>
          <p:cNvPr id="1048645" name="Google Shape;197;p21"/>
          <p:cNvSpPr/>
          <p:nvPr/>
        </p:nvSpPr>
        <p:spPr>
          <a:xfrm>
            <a:off x="1540450" y="86675"/>
            <a:ext cx="5812800" cy="564000"/>
          </a:xfrm>
          <a:prstGeom prst="horizontalScroll">
            <a:avLst>
              <a:gd name="adj" fmla="val 12500"/>
            </a:avLst>
          </a:prstGeom>
          <a:solidFill>
            <a:schemeClr val="accent1">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dirty="0">
                <a:solidFill>
                  <a:schemeClr val="bg1"/>
                </a:solidFill>
                <a:latin typeface="Trebuchet MS"/>
                <a:ea typeface="Trebuchet MS"/>
                <a:cs typeface="Trebuchet MS"/>
                <a:sym typeface="Trebuchet MS"/>
              </a:rPr>
              <a:t>TABLEAU DASHBOARD</a:t>
            </a:r>
            <a:endParaRPr sz="2500" b="1" dirty="0">
              <a:solidFill>
                <a:schemeClr val="bg1"/>
              </a:solidFill>
              <a:latin typeface="Trebuchet MS"/>
              <a:ea typeface="Trebuchet MS"/>
              <a:cs typeface="Trebuchet MS"/>
              <a:sym typeface="Trebuchet MS"/>
            </a:endParaRPr>
          </a:p>
        </p:txBody>
      </p:sp>
      <p:pic>
        <p:nvPicPr>
          <p:cNvPr id="2" name="Picture 1">
            <a:extLst>
              <a:ext uri="{FF2B5EF4-FFF2-40B4-BE49-F238E27FC236}">
                <a16:creationId xmlns:a16="http://schemas.microsoft.com/office/drawing/2014/main" id="{1AE8DF9B-646A-71D8-8C24-F9C6A2F58F54}"/>
              </a:ext>
            </a:extLst>
          </p:cNvPr>
          <p:cNvPicPr>
            <a:picLocks noChangeAspect="1"/>
          </p:cNvPicPr>
          <p:nvPr/>
        </p:nvPicPr>
        <p:blipFill>
          <a:blip r:embed="rId3"/>
          <a:srcRect l="10961" t="14222" r="9231" b="12776"/>
          <a:stretch>
            <a:fillRect/>
          </a:stretch>
        </p:blipFill>
        <p:spPr>
          <a:xfrm>
            <a:off x="8465574" y="86675"/>
            <a:ext cx="566331" cy="56993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5" name="Picture 4" descr="A screenshot of a computer&#10;&#10;AI-generated content may be incorrect.">
            <a:extLst>
              <a:ext uri="{FF2B5EF4-FFF2-40B4-BE49-F238E27FC236}">
                <a16:creationId xmlns:a16="http://schemas.microsoft.com/office/drawing/2014/main" id="{AD8BB706-4E7E-E170-4B5C-D617B685E34B}"/>
              </a:ext>
            </a:extLst>
          </p:cNvPr>
          <p:cNvPicPr>
            <a:picLocks noChangeAspect="1"/>
          </p:cNvPicPr>
          <p:nvPr/>
        </p:nvPicPr>
        <p:blipFill>
          <a:blip r:embed="rId4"/>
          <a:stretch>
            <a:fillRect/>
          </a:stretch>
        </p:blipFill>
        <p:spPr>
          <a:xfrm>
            <a:off x="0" y="650675"/>
            <a:ext cx="9144000" cy="4492825"/>
          </a:xfrm>
          <a:prstGeom prst="rect">
            <a:avLst/>
          </a:prstGeom>
        </p:spPr>
      </p:pic>
      <p:pic>
        <p:nvPicPr>
          <p:cNvPr id="6" name="Picture 5">
            <a:extLst>
              <a:ext uri="{FF2B5EF4-FFF2-40B4-BE49-F238E27FC236}">
                <a16:creationId xmlns:a16="http://schemas.microsoft.com/office/drawing/2014/main" id="{AB266871-C5D2-78BB-3D79-954A1A0AC2EB}"/>
              </a:ext>
            </a:extLst>
          </p:cNvPr>
          <p:cNvPicPr>
            <a:picLocks noChangeAspect="1"/>
          </p:cNvPicPr>
          <p:nvPr/>
        </p:nvPicPr>
        <p:blipFill>
          <a:blip r:embed="rId5"/>
          <a:stretch>
            <a:fillRect/>
          </a:stretch>
        </p:blipFill>
        <p:spPr>
          <a:xfrm>
            <a:off x="2403591" y="184009"/>
            <a:ext cx="369332" cy="3693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1048679" name="Google Shape;241;p26"/>
          <p:cNvSpPr txBox="1">
            <a:spLocks noGrp="1"/>
          </p:cNvSpPr>
          <p:nvPr>
            <p:ph type="title"/>
          </p:nvPr>
        </p:nvSpPr>
        <p:spPr>
          <a:xfrm>
            <a:off x="12682600" y="3802725"/>
            <a:ext cx="525600" cy="239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sz="100"/>
          </a:p>
        </p:txBody>
      </p:sp>
      <p:sp>
        <p:nvSpPr>
          <p:cNvPr id="1048680" name="Google Shape;242;p26"/>
          <p:cNvSpPr/>
          <p:nvPr/>
        </p:nvSpPr>
        <p:spPr>
          <a:xfrm>
            <a:off x="409750" y="236715"/>
            <a:ext cx="6329700" cy="681000"/>
          </a:xfrm>
          <a:prstGeom prst="horizontalScroll">
            <a:avLst>
              <a:gd name="adj" fmla="val 12500"/>
            </a:avLst>
          </a:prstGeom>
          <a:solidFill>
            <a:schemeClr val="accent1">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bg1"/>
                </a:solidFill>
                <a:latin typeface="Trebuchet MS"/>
                <a:ea typeface="Trebuchet MS"/>
                <a:cs typeface="Trebuchet MS"/>
                <a:sym typeface="Trebuchet MS"/>
              </a:rPr>
              <a:t>CHALLENGES</a:t>
            </a:r>
            <a:endParaRPr sz="2400" b="1" dirty="0">
              <a:solidFill>
                <a:schemeClr val="bg1"/>
              </a:solidFill>
              <a:latin typeface="Trebuchet MS"/>
              <a:ea typeface="Trebuchet MS"/>
              <a:cs typeface="Trebuchet MS"/>
              <a:sym typeface="Trebuchet MS"/>
            </a:endParaRPr>
          </a:p>
        </p:txBody>
      </p:sp>
      <p:pic>
        <p:nvPicPr>
          <p:cNvPr id="2" name="Picture 1">
            <a:extLst>
              <a:ext uri="{FF2B5EF4-FFF2-40B4-BE49-F238E27FC236}">
                <a16:creationId xmlns:a16="http://schemas.microsoft.com/office/drawing/2014/main" id="{BBC1BD1C-2891-84C5-8CBC-061A6AFC72C1}"/>
              </a:ext>
            </a:extLst>
          </p:cNvPr>
          <p:cNvPicPr>
            <a:picLocks noChangeAspect="1"/>
          </p:cNvPicPr>
          <p:nvPr/>
        </p:nvPicPr>
        <p:blipFill>
          <a:blip r:embed="rId3"/>
          <a:srcRect l="10961" t="14222" r="9231" b="12776"/>
          <a:stretch>
            <a:fillRect/>
          </a:stretch>
        </p:blipFill>
        <p:spPr>
          <a:xfrm>
            <a:off x="7077555" y="2327910"/>
            <a:ext cx="1867905" cy="187977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aphicFrame>
        <p:nvGraphicFramePr>
          <p:cNvPr id="7" name="Content Placeholder 2">
            <a:extLst>
              <a:ext uri="{FF2B5EF4-FFF2-40B4-BE49-F238E27FC236}">
                <a16:creationId xmlns:a16="http://schemas.microsoft.com/office/drawing/2014/main" id="{4A99222A-C67C-353A-393B-692DD96C796F}"/>
              </a:ext>
            </a:extLst>
          </p:cNvPr>
          <p:cNvGraphicFramePr>
            <a:graphicFrameLocks/>
          </p:cNvGraphicFramePr>
          <p:nvPr>
            <p:extLst>
              <p:ext uri="{D42A27DB-BD31-4B8C-83A1-F6EECF244321}">
                <p14:modId xmlns:p14="http://schemas.microsoft.com/office/powerpoint/2010/main" val="1313721539"/>
              </p:ext>
            </p:extLst>
          </p:nvPr>
        </p:nvGraphicFramePr>
        <p:xfrm>
          <a:off x="409750" y="1165860"/>
          <a:ext cx="6438900" cy="32689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1048660" name="Google Shape;221;p24"/>
          <p:cNvSpPr txBox="1">
            <a:spLocks noGrp="1"/>
          </p:cNvSpPr>
          <p:nvPr>
            <p:ph type="title"/>
          </p:nvPr>
        </p:nvSpPr>
        <p:spPr>
          <a:xfrm>
            <a:off x="10289350" y="890450"/>
            <a:ext cx="281700" cy="8169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100" dirty="0"/>
              <a:t>Manager wise total buy and Sell Value and Total_portfolio_returns</a:t>
            </a:r>
            <a:endParaRPr sz="100" dirty="0"/>
          </a:p>
          <a:p>
            <a:pPr marL="0" lvl="0" indent="0" algn="l" rtl="0">
              <a:spcBef>
                <a:spcPts val="0"/>
              </a:spcBef>
              <a:spcAft>
                <a:spcPts val="0"/>
              </a:spcAft>
              <a:buNone/>
            </a:pPr>
            <a:r>
              <a:rPr lang="en" sz="100" dirty="0"/>
              <a:t>select manager,count(DISTINCT order_id) as Executed_trade,</a:t>
            </a:r>
            <a:endParaRPr sz="100" dirty="0"/>
          </a:p>
          <a:p>
            <a:pPr marL="0" lvl="0" indent="0" algn="l" rtl="0">
              <a:spcBef>
                <a:spcPts val="0"/>
              </a:spcBef>
              <a:spcAft>
                <a:spcPts val="0"/>
              </a:spcAft>
              <a:buNone/>
            </a:pPr>
            <a:r>
              <a:rPr lang="en" sz="100" dirty="0"/>
              <a:t>concat(round(sum(case when side="BUY" then price* Quantity else 0 end)/1000000,2)," ","M")as Total_Buy_Value,</a:t>
            </a:r>
            <a:endParaRPr sz="100" dirty="0"/>
          </a:p>
          <a:p>
            <a:pPr marL="0" lvl="0" indent="0" algn="l" rtl="0">
              <a:spcBef>
                <a:spcPts val="0"/>
              </a:spcBef>
              <a:spcAft>
                <a:spcPts val="0"/>
              </a:spcAft>
              <a:buNone/>
            </a:pPr>
            <a:r>
              <a:rPr lang="en" sz="100" dirty="0"/>
              <a:t>concat(round(sum(case when side="SELL" then price* Quantity else 0 end)/1000000,2)," ","M")as Total_Sell_Value,</a:t>
            </a:r>
            <a:endParaRPr sz="100" dirty="0"/>
          </a:p>
          <a:p>
            <a:pPr marL="0" lvl="0" indent="0" algn="l" rtl="0">
              <a:spcBef>
                <a:spcPts val="0"/>
              </a:spcBef>
              <a:spcAft>
                <a:spcPts val="0"/>
              </a:spcAft>
              <a:buNone/>
            </a:pPr>
            <a:r>
              <a:rPr lang="en" sz="100" dirty="0"/>
              <a:t>concat(round(sum(price* Quantity)/1000,2)," ","k") as Total_portfolio_return,</a:t>
            </a:r>
            <a:endParaRPr sz="100" dirty="0"/>
          </a:p>
          <a:p>
            <a:pPr marL="0" lvl="0" indent="0" algn="l" rtl="0">
              <a:spcBef>
                <a:spcPts val="0"/>
              </a:spcBef>
              <a:spcAft>
                <a:spcPts val="0"/>
              </a:spcAft>
              <a:buNone/>
            </a:pPr>
            <a:r>
              <a:rPr lang="en" sz="100" dirty="0"/>
              <a:t>concat(round(sum(close)/10000,2)," ","M") as Total_current_value</a:t>
            </a:r>
            <a:endParaRPr sz="100" dirty="0"/>
          </a:p>
          <a:p>
            <a:pPr marL="0" lvl="0" indent="0" algn="l" rtl="0">
              <a:spcBef>
                <a:spcPts val="0"/>
              </a:spcBef>
              <a:spcAft>
                <a:spcPts val="0"/>
              </a:spcAft>
              <a:buNone/>
            </a:pPr>
            <a:r>
              <a:rPr lang="en" sz="100" dirty="0"/>
              <a:t>From stockanalysis group by manager order by Total_portfolio_return desc; </a:t>
            </a:r>
            <a:endParaRPr sz="100" dirty="0"/>
          </a:p>
        </p:txBody>
      </p:sp>
      <p:sp>
        <p:nvSpPr>
          <p:cNvPr id="1048661" name="Google Shape;222;p24"/>
          <p:cNvSpPr/>
          <p:nvPr/>
        </p:nvSpPr>
        <p:spPr>
          <a:xfrm>
            <a:off x="1081875" y="136958"/>
            <a:ext cx="5812800" cy="564000"/>
          </a:xfrm>
          <a:prstGeom prst="horizontalScroll">
            <a:avLst>
              <a:gd name="adj" fmla="val 12500"/>
            </a:avLst>
          </a:prstGeom>
          <a:solidFill>
            <a:schemeClr val="accent1">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just"/>
            <a:br>
              <a:rPr lang="en-IN" sz="2800" b="1" dirty="0">
                <a:latin typeface="Khmer MN" pitchFamily="2" charset="0"/>
              </a:rPr>
            </a:br>
            <a:r>
              <a:rPr lang="en-IN" sz="2800" b="1" dirty="0">
                <a:solidFill>
                  <a:schemeClr val="bg1"/>
                </a:solidFill>
                <a:latin typeface="Arial" panose="020B0604020202020204" pitchFamily="34" charset="0"/>
                <a:cs typeface="Arial" panose="020B0604020202020204" pitchFamily="34" charset="0"/>
              </a:rPr>
              <a:t>Conclusion</a:t>
            </a:r>
            <a:br>
              <a:rPr lang="en-IN" sz="2800" b="1" dirty="0">
                <a:latin typeface="Khmer MN" pitchFamily="2" charset="0"/>
              </a:rPr>
            </a:br>
            <a:endParaRPr sz="2500" b="1" dirty="0">
              <a:solidFill>
                <a:schemeClr val="bg1"/>
              </a:solidFill>
              <a:latin typeface="Trebuchet MS"/>
              <a:ea typeface="Trebuchet MS"/>
              <a:cs typeface="Trebuchet MS"/>
              <a:sym typeface="Trebuchet MS"/>
            </a:endParaRPr>
          </a:p>
        </p:txBody>
      </p:sp>
      <p:sp>
        <p:nvSpPr>
          <p:cNvPr id="1048662" name="Google Shape;223;p24"/>
          <p:cNvSpPr txBox="1"/>
          <p:nvPr/>
        </p:nvSpPr>
        <p:spPr>
          <a:xfrm>
            <a:off x="246600" y="2776175"/>
            <a:ext cx="73419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lt1"/>
              </a:solidFill>
              <a:latin typeface="Montserrat SemiBold"/>
              <a:ea typeface="Montserrat SemiBold"/>
              <a:cs typeface="Montserrat SemiBold"/>
              <a:sym typeface="Montserrat SemiBold"/>
            </a:endParaRPr>
          </a:p>
          <a:p>
            <a:pPr marL="0" marR="0" lvl="0" indent="0" algn="l" rtl="0">
              <a:lnSpc>
                <a:spcPct val="100000"/>
              </a:lnSpc>
              <a:spcBef>
                <a:spcPts val="0"/>
              </a:spcBef>
              <a:spcAft>
                <a:spcPts val="0"/>
              </a:spcAft>
              <a:buNone/>
            </a:pPr>
            <a:endParaRPr sz="1300">
              <a:solidFill>
                <a:schemeClr val="lt1"/>
              </a:solidFill>
              <a:latin typeface="Montserrat SemiBold"/>
              <a:ea typeface="Montserrat SemiBold"/>
              <a:cs typeface="Montserrat SemiBold"/>
              <a:sym typeface="Montserrat SemiBold"/>
            </a:endParaRPr>
          </a:p>
        </p:txBody>
      </p:sp>
      <p:pic>
        <p:nvPicPr>
          <p:cNvPr id="2" name="Picture 1">
            <a:extLst>
              <a:ext uri="{FF2B5EF4-FFF2-40B4-BE49-F238E27FC236}">
                <a16:creationId xmlns:a16="http://schemas.microsoft.com/office/drawing/2014/main" id="{C56AFF43-F3A3-85BE-3439-F544E28E02D5}"/>
              </a:ext>
            </a:extLst>
          </p:cNvPr>
          <p:cNvPicPr>
            <a:picLocks noChangeAspect="1"/>
          </p:cNvPicPr>
          <p:nvPr/>
        </p:nvPicPr>
        <p:blipFill>
          <a:blip r:embed="rId3"/>
          <a:srcRect l="10961" t="14222" r="9231" b="12776"/>
          <a:stretch>
            <a:fillRect/>
          </a:stretch>
        </p:blipFill>
        <p:spPr>
          <a:xfrm>
            <a:off x="7315769" y="2225339"/>
            <a:ext cx="1539919" cy="15497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Content Placeholder 2">
            <a:extLst>
              <a:ext uri="{FF2B5EF4-FFF2-40B4-BE49-F238E27FC236}">
                <a16:creationId xmlns:a16="http://schemas.microsoft.com/office/drawing/2014/main" id="{1FE7FBFA-FA16-0FE1-1587-74036A9FEA3D}"/>
              </a:ext>
            </a:extLst>
          </p:cNvPr>
          <p:cNvSpPr txBox="1">
            <a:spLocks/>
          </p:cNvSpPr>
          <p:nvPr/>
        </p:nvSpPr>
        <p:spPr>
          <a:xfrm>
            <a:off x="743829" y="1012226"/>
            <a:ext cx="7457211" cy="3890806"/>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solidFill>
                  <a:schemeClr val="bg1"/>
                </a:solidFill>
                <a:latin typeface="Arial" panose="020B0604020202020204" pitchFamily="34" charset="0"/>
                <a:cs typeface="Arial" panose="020B0604020202020204" pitchFamily="34" charset="0"/>
              </a:rPr>
              <a:t>This Stock Market Trading Analysis project delivers a complete analytics pipeline built on real trading data.</a:t>
            </a:r>
          </a:p>
          <a:p>
            <a:pPr marL="342900" indent="-342900">
              <a:buClr>
                <a:schemeClr val="bg1"/>
              </a:buClr>
              <a:buFont typeface="Wingdings" panose="05000000000000000000" pitchFamily="2" charset="2"/>
              <a:buChar char="v"/>
            </a:pPr>
            <a:r>
              <a:rPr lang="en-IN" dirty="0">
                <a:solidFill>
                  <a:schemeClr val="bg1"/>
                </a:solidFill>
                <a:latin typeface="Arial" panose="020B0604020202020204" pitchFamily="34" charset="0"/>
                <a:cs typeface="Arial" panose="020B0604020202020204" pitchFamily="34" charset="0"/>
              </a:rPr>
              <a:t>The analysis covers </a:t>
            </a:r>
            <a:r>
              <a:rPr lang="en-IN" b="1" dirty="0">
                <a:solidFill>
                  <a:schemeClr val="bg1"/>
                </a:solidFill>
                <a:latin typeface="Arial" panose="020B0604020202020204" pitchFamily="34" charset="0"/>
                <a:cs typeface="Arial" panose="020B0604020202020204" pitchFamily="34" charset="0"/>
              </a:rPr>
              <a:t>500+ trade records</a:t>
            </a:r>
            <a:r>
              <a:rPr lang="en-IN" dirty="0">
                <a:solidFill>
                  <a:schemeClr val="bg1"/>
                </a:solidFill>
                <a:latin typeface="Arial" panose="020B0604020202020204" pitchFamily="34" charset="0"/>
                <a:cs typeface="Arial" panose="020B0604020202020204" pitchFamily="34" charset="0"/>
              </a:rPr>
              <a:t> across </a:t>
            </a:r>
            <a:r>
              <a:rPr lang="en-IN" b="1" dirty="0">
                <a:solidFill>
                  <a:schemeClr val="bg1"/>
                </a:solidFill>
                <a:latin typeface="Arial" panose="020B0604020202020204" pitchFamily="34" charset="0"/>
                <a:cs typeface="Arial" panose="020B0604020202020204" pitchFamily="34" charset="0"/>
              </a:rPr>
              <a:t>8 companies</a:t>
            </a:r>
            <a:r>
              <a:rPr lang="en-IN" dirty="0">
                <a:solidFill>
                  <a:schemeClr val="bg1"/>
                </a:solidFill>
                <a:latin typeface="Arial" panose="020B0604020202020204" pitchFamily="34" charset="0"/>
                <a:cs typeface="Arial" panose="020B0604020202020204" pitchFamily="34" charset="0"/>
              </a:rPr>
              <a:t> and multiple market sectors</a:t>
            </a:r>
          </a:p>
          <a:p>
            <a:pPr marL="342900" indent="-342900">
              <a:buClr>
                <a:schemeClr val="bg1"/>
              </a:buClr>
              <a:buFont typeface="Wingdings" panose="05000000000000000000" pitchFamily="2" charset="2"/>
              <a:buChar char="v"/>
            </a:pPr>
            <a:r>
              <a:rPr lang="en-IN" dirty="0">
                <a:solidFill>
                  <a:schemeClr val="bg1"/>
                </a:solidFill>
                <a:latin typeface="Arial" panose="020B0604020202020204" pitchFamily="34" charset="0"/>
                <a:cs typeface="Arial" panose="020B0604020202020204" pitchFamily="34" charset="0"/>
              </a:rPr>
              <a:t>The portfolio achieved a </a:t>
            </a:r>
            <a:r>
              <a:rPr lang="en-IN" b="1" dirty="0">
                <a:solidFill>
                  <a:schemeClr val="bg1"/>
                </a:solidFill>
                <a:latin typeface="Arial" panose="020B0604020202020204" pitchFamily="34" charset="0"/>
                <a:cs typeface="Arial" panose="020B0604020202020204" pitchFamily="34" charset="0"/>
              </a:rPr>
              <a:t>total market capitalisation of USD 270.49 million</a:t>
            </a:r>
            <a:endParaRPr lang="en-IN" dirty="0">
              <a:solidFill>
                <a:schemeClr val="bg1"/>
              </a:solidFill>
              <a:latin typeface="Arial" panose="020B0604020202020204" pitchFamily="34" charset="0"/>
              <a:cs typeface="Arial" panose="020B0604020202020204" pitchFamily="34" charset="0"/>
            </a:endParaRPr>
          </a:p>
          <a:p>
            <a:pPr marL="342900" indent="-342900">
              <a:buClr>
                <a:schemeClr val="bg1"/>
              </a:buClr>
              <a:buFont typeface="Wingdings" panose="05000000000000000000" pitchFamily="2" charset="2"/>
              <a:buChar char="v"/>
            </a:pPr>
            <a:r>
              <a:rPr lang="en-IN" dirty="0">
                <a:solidFill>
                  <a:schemeClr val="bg1"/>
                </a:solidFill>
                <a:latin typeface="Arial" panose="020B0604020202020204" pitchFamily="34" charset="0"/>
                <a:cs typeface="Arial" panose="020B0604020202020204" pitchFamily="34" charset="0"/>
              </a:rPr>
              <a:t>The </a:t>
            </a:r>
            <a:r>
              <a:rPr lang="en-IN" b="1" dirty="0">
                <a:solidFill>
                  <a:schemeClr val="bg1"/>
                </a:solidFill>
                <a:latin typeface="Arial" panose="020B0604020202020204" pitchFamily="34" charset="0"/>
                <a:cs typeface="Arial" panose="020B0604020202020204" pitchFamily="34" charset="0"/>
              </a:rPr>
              <a:t>portfolio value stands at USD 944,110</a:t>
            </a:r>
            <a:r>
              <a:rPr lang="en-IN" dirty="0">
                <a:solidFill>
                  <a:schemeClr val="bg1"/>
                </a:solidFill>
                <a:latin typeface="Arial" panose="020B0604020202020204" pitchFamily="34" charset="0"/>
                <a:cs typeface="Arial" panose="020B0604020202020204" pitchFamily="34" charset="0"/>
              </a:rPr>
              <a:t>, with a </a:t>
            </a:r>
            <a:r>
              <a:rPr lang="en-IN" b="1" dirty="0">
                <a:solidFill>
                  <a:schemeClr val="bg1"/>
                </a:solidFill>
                <a:latin typeface="Arial" panose="020B0604020202020204" pitchFamily="34" charset="0"/>
                <a:cs typeface="Arial" panose="020B0604020202020204" pitchFamily="34" charset="0"/>
              </a:rPr>
              <a:t>portfolio return of 10.09%</a:t>
            </a:r>
          </a:p>
          <a:p>
            <a:pPr marL="342900" indent="-342900">
              <a:buClr>
                <a:schemeClr val="bg1"/>
              </a:buClr>
              <a:buFont typeface="Wingdings" panose="05000000000000000000" pitchFamily="2" charset="2"/>
              <a:buChar char="v"/>
            </a:pPr>
            <a:r>
              <a:rPr lang="en-IN" dirty="0">
                <a:solidFill>
                  <a:schemeClr val="bg1"/>
                </a:solidFill>
                <a:latin typeface="Arial" panose="020B0604020202020204" pitchFamily="34" charset="0"/>
                <a:cs typeface="Arial" panose="020B0604020202020204" pitchFamily="34" charset="0"/>
              </a:rPr>
              <a:t>Risk and stability were evaluated using </a:t>
            </a:r>
            <a:r>
              <a:rPr lang="en-IN" b="1" dirty="0">
                <a:solidFill>
                  <a:schemeClr val="bg1"/>
                </a:solidFill>
                <a:latin typeface="Arial" panose="020B0604020202020204" pitchFamily="34" charset="0"/>
                <a:cs typeface="Arial" panose="020B0604020202020204" pitchFamily="34" charset="0"/>
              </a:rPr>
              <a:t>Volatility:</a:t>
            </a:r>
            <a:r>
              <a:rPr lang="en-IN" dirty="0">
                <a:solidFill>
                  <a:schemeClr val="bg1"/>
                </a:solidFill>
                <a:latin typeface="Arial" panose="020B0604020202020204" pitchFamily="34" charset="0"/>
                <a:cs typeface="Arial" panose="020B0604020202020204" pitchFamily="34" charset="0"/>
              </a:rPr>
              <a:t> 0.40%</a:t>
            </a:r>
          </a:p>
          <a:p>
            <a:pPr marL="342900" indent="-342900">
              <a:buClr>
                <a:schemeClr val="bg1"/>
              </a:buClr>
              <a:buFont typeface="Wingdings" panose="05000000000000000000" pitchFamily="2" charset="2"/>
              <a:buChar char="v"/>
            </a:pPr>
            <a:r>
              <a:rPr lang="en-IN" b="1" dirty="0">
                <a:solidFill>
                  <a:schemeClr val="bg1"/>
                </a:solidFill>
                <a:latin typeface="Arial" panose="020B0604020202020204" pitchFamily="34" charset="0"/>
                <a:cs typeface="Arial" panose="020B0604020202020204" pitchFamily="34" charset="0"/>
              </a:rPr>
              <a:t>Sharpe Ratio:</a:t>
            </a:r>
            <a:r>
              <a:rPr lang="en-IN" dirty="0">
                <a:solidFill>
                  <a:schemeClr val="bg1"/>
                </a:solidFill>
                <a:latin typeface="Arial" panose="020B0604020202020204" pitchFamily="34" charset="0"/>
                <a:cs typeface="Arial" panose="020B0604020202020204" pitchFamily="34" charset="0"/>
              </a:rPr>
              <a:t> 12.57, indicating strong risk-adjusted performance</a:t>
            </a:r>
          </a:p>
          <a:p>
            <a:pPr marL="342900" indent="-342900">
              <a:buClr>
                <a:schemeClr val="bg1"/>
              </a:buClr>
              <a:buFont typeface="Wingdings" panose="05000000000000000000" pitchFamily="2" charset="2"/>
              <a:buChar char="v"/>
            </a:pPr>
            <a:r>
              <a:rPr lang="en-IN" dirty="0">
                <a:solidFill>
                  <a:schemeClr val="bg1"/>
                </a:solidFill>
                <a:latin typeface="Arial" panose="020B0604020202020204" pitchFamily="34" charset="0"/>
                <a:cs typeface="Arial" panose="020B0604020202020204" pitchFamily="34" charset="0"/>
              </a:rPr>
              <a:t>Income metrics show a </a:t>
            </a:r>
            <a:r>
              <a:rPr lang="en-IN" b="1" dirty="0">
                <a:solidFill>
                  <a:schemeClr val="bg1"/>
                </a:solidFill>
                <a:latin typeface="Arial" panose="020B0604020202020204" pitchFamily="34" charset="0"/>
                <a:cs typeface="Arial" panose="020B0604020202020204" pitchFamily="34" charset="0"/>
              </a:rPr>
              <a:t>Dividend Yield of 0.97%</a:t>
            </a:r>
          </a:p>
          <a:p>
            <a:pPr marL="342900" indent="-342900">
              <a:buClr>
                <a:schemeClr val="bg1"/>
              </a:buClr>
              <a:buFont typeface="Wingdings" panose="05000000000000000000" pitchFamily="2" charset="2"/>
              <a:buChar char="v"/>
            </a:pPr>
            <a:r>
              <a:rPr lang="en-IN" dirty="0">
                <a:solidFill>
                  <a:schemeClr val="bg1"/>
                </a:solidFill>
                <a:latin typeface="Arial" panose="020B0604020202020204" pitchFamily="34" charset="0"/>
                <a:cs typeface="Arial" panose="020B0604020202020204" pitchFamily="34" charset="0"/>
              </a:rPr>
              <a:t>Operational efficiency is reflected by </a:t>
            </a:r>
            <a:r>
              <a:rPr lang="en-IN" b="1" dirty="0">
                <a:solidFill>
                  <a:schemeClr val="bg1"/>
                </a:solidFill>
                <a:latin typeface="Arial" panose="020B0604020202020204" pitchFamily="34" charset="0"/>
                <a:cs typeface="Arial" panose="020B0604020202020204" pitchFamily="34" charset="0"/>
              </a:rPr>
              <a:t>Order Execution Rate:</a:t>
            </a:r>
            <a:r>
              <a:rPr lang="en-IN" dirty="0">
                <a:solidFill>
                  <a:schemeClr val="bg1"/>
                </a:solidFill>
                <a:latin typeface="Arial" panose="020B0604020202020204" pitchFamily="34" charset="0"/>
                <a:cs typeface="Arial" panose="020B0604020202020204" pitchFamily="34" charset="0"/>
              </a:rPr>
              <a:t> 99.80%</a:t>
            </a:r>
          </a:p>
          <a:p>
            <a:pPr marL="342900" indent="-342900">
              <a:buClr>
                <a:schemeClr val="bg1"/>
              </a:buClr>
              <a:buFont typeface="Wingdings" panose="05000000000000000000" pitchFamily="2" charset="2"/>
              <a:buChar char="v"/>
            </a:pPr>
            <a:r>
              <a:rPr lang="en-IN" b="1" dirty="0">
                <a:solidFill>
                  <a:schemeClr val="bg1"/>
                </a:solidFill>
                <a:latin typeface="Arial" panose="020B0604020202020204" pitchFamily="34" charset="0"/>
                <a:cs typeface="Arial" panose="020B0604020202020204" pitchFamily="34" charset="0"/>
              </a:rPr>
              <a:t>Trade Win Ratio:</a:t>
            </a:r>
            <a:r>
              <a:rPr lang="en-IN" dirty="0">
                <a:solidFill>
                  <a:schemeClr val="bg1"/>
                </a:solidFill>
                <a:latin typeface="Arial" panose="020B0604020202020204" pitchFamily="34" charset="0"/>
                <a:cs typeface="Arial" panose="020B0604020202020204" pitchFamily="34" charset="0"/>
              </a:rPr>
              <a:t> 88.70%</a:t>
            </a:r>
          </a:p>
          <a:p>
            <a:pPr marL="342900" indent="-342900">
              <a:buClr>
                <a:schemeClr val="bg1"/>
              </a:buClr>
              <a:buFont typeface="Wingdings" panose="05000000000000000000" pitchFamily="2" charset="2"/>
              <a:buChar char="v"/>
            </a:pPr>
            <a:r>
              <a:rPr lang="en-IN" b="1" dirty="0">
                <a:solidFill>
                  <a:schemeClr val="bg1"/>
                </a:solidFill>
                <a:latin typeface="Arial" panose="020B0604020202020204" pitchFamily="34" charset="0"/>
                <a:cs typeface="Arial" panose="020B0604020202020204" pitchFamily="34" charset="0"/>
              </a:rPr>
              <a:t>Trade Performance P&amp;L:</a:t>
            </a:r>
            <a:r>
              <a:rPr lang="en-IN" dirty="0">
                <a:solidFill>
                  <a:schemeClr val="bg1"/>
                </a:solidFill>
                <a:latin typeface="Arial" panose="020B0604020202020204" pitchFamily="34" charset="0"/>
                <a:cs typeface="Arial" panose="020B0604020202020204" pitchFamily="34" charset="0"/>
              </a:rPr>
              <a:t> USD 21,836 profit</a:t>
            </a:r>
            <a:br>
              <a:rPr lang="en-IN" dirty="0">
                <a:solidFill>
                  <a:schemeClr val="bg1"/>
                </a:solidFill>
                <a:latin typeface="Arial" panose="020B0604020202020204" pitchFamily="34" charset="0"/>
                <a:cs typeface="Arial" panose="020B0604020202020204" pitchFamily="34" charset="0"/>
              </a:rPr>
            </a:br>
            <a:endParaRPr lang="en-IN" dirty="0">
              <a:solidFill>
                <a:schemeClr val="bg1"/>
              </a:solidFill>
              <a:latin typeface="Arial" panose="020B0604020202020204" pitchFamily="34" charset="0"/>
              <a:cs typeface="Arial" panose="020B0604020202020204" pitchFamily="34" charset="0"/>
            </a:endParaRPr>
          </a:p>
          <a:p>
            <a:pPr>
              <a:buClr>
                <a:schemeClr val="bg1"/>
              </a:buClr>
            </a:pPr>
            <a:r>
              <a:rPr lang="en-IN" dirty="0">
                <a:solidFill>
                  <a:schemeClr val="bg1"/>
                </a:solidFill>
                <a:latin typeface="Arial" panose="020B0604020202020204" pitchFamily="34" charset="0"/>
                <a:cs typeface="Arial" panose="020B0604020202020204" pitchFamily="34" charset="0"/>
              </a:rPr>
              <a:t>Using </a:t>
            </a:r>
            <a:r>
              <a:rPr lang="en-IN" b="1" dirty="0">
                <a:solidFill>
                  <a:schemeClr val="bg1"/>
                </a:solidFill>
                <a:latin typeface="Arial" panose="020B0604020202020204" pitchFamily="34" charset="0"/>
                <a:cs typeface="Arial" panose="020B0604020202020204" pitchFamily="34" charset="0"/>
              </a:rPr>
              <a:t>Excel, SQL, Power BI, and Tableau</a:t>
            </a:r>
            <a:r>
              <a:rPr lang="en-IN" dirty="0">
                <a:solidFill>
                  <a:schemeClr val="bg1"/>
                </a:solidFill>
                <a:latin typeface="Arial" panose="020B0604020202020204" pitchFamily="34" charset="0"/>
                <a:cs typeface="Arial" panose="020B0604020202020204" pitchFamily="34" charset="0"/>
              </a:rPr>
              <a:t>, this project transforms raw stock market data into validated KPIs and interactive dashboards, enabling clear evaluation of </a:t>
            </a:r>
            <a:r>
              <a:rPr lang="en-IN" b="1" dirty="0">
                <a:solidFill>
                  <a:schemeClr val="bg1"/>
                </a:solidFill>
                <a:latin typeface="Arial" panose="020B0604020202020204" pitchFamily="34" charset="0"/>
                <a:cs typeface="Arial" panose="020B0604020202020204" pitchFamily="34" charset="0"/>
              </a:rPr>
              <a:t>portfolio performance, risk, and trading efficiency</a:t>
            </a:r>
            <a:r>
              <a:rPr lang="en-IN" dirty="0">
                <a:solidFill>
                  <a:schemeClr val="bg1"/>
                </a:solidFill>
                <a:latin typeface="Arial" panose="020B0604020202020204" pitchFamily="34" charset="0"/>
                <a:cs typeface="Arial" panose="020B0604020202020204" pitchFamily="34" charset="0"/>
              </a:rPr>
              <a: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1048685" name="Google Shape;250;p27"/>
          <p:cNvSpPr/>
          <p:nvPr/>
        </p:nvSpPr>
        <p:spPr>
          <a:xfrm>
            <a:off x="641874" y="155425"/>
            <a:ext cx="6809700" cy="1254275"/>
          </a:xfrm>
          <a:prstGeom prst="round2DiagRect">
            <a:avLst>
              <a:gd name="adj1" fmla="val 16667"/>
              <a:gd name="adj2" fmla="val 0"/>
            </a:avLst>
          </a:prstGeom>
          <a:solidFill>
            <a:schemeClr val="accent1">
              <a:lumMod val="5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4300" dirty="0">
                <a:solidFill>
                  <a:schemeClr val="bg1"/>
                </a:solidFill>
                <a:latin typeface="Montserrat ExtraBold"/>
                <a:ea typeface="Montserrat ExtraBold"/>
                <a:cs typeface="Montserrat ExtraBold"/>
                <a:sym typeface="Montserrat ExtraBold"/>
              </a:rPr>
              <a:t>THANKYOU</a:t>
            </a:r>
            <a:endParaRPr sz="4300" dirty="0">
              <a:solidFill>
                <a:schemeClr val="bg1"/>
              </a:solidFill>
              <a:latin typeface="Montserrat ExtraBold"/>
              <a:ea typeface="Montserrat ExtraBold"/>
              <a:cs typeface="Montserrat ExtraBold"/>
              <a:sym typeface="Montserrat ExtraBold"/>
            </a:endParaRPr>
          </a:p>
        </p:txBody>
      </p:sp>
      <p:sp>
        <p:nvSpPr>
          <p:cNvPr id="1048686" name="Google Shape;251;p27"/>
          <p:cNvSpPr txBox="1"/>
          <p:nvPr/>
        </p:nvSpPr>
        <p:spPr>
          <a:xfrm>
            <a:off x="641874" y="1637262"/>
            <a:ext cx="6809700" cy="2954625"/>
          </a:xfrm>
          <a:prstGeom prst="rect">
            <a:avLst/>
          </a:prstGeom>
          <a:ln>
            <a:solidFill>
              <a:schemeClr val="tx1"/>
            </a:solidFill>
          </a:ln>
        </p:spPr>
        <p:style>
          <a:lnRef idx="3">
            <a:schemeClr val="lt1"/>
          </a:lnRef>
          <a:fillRef idx="1">
            <a:schemeClr val="dk1"/>
          </a:fillRef>
          <a:effectRef idx="1">
            <a:schemeClr val="dk1"/>
          </a:effectRef>
          <a:fontRef idx="minor">
            <a:schemeClr val="lt1"/>
          </a:fontRef>
        </p:style>
        <p:txBody>
          <a:bodyPr spcFirstLastPara="1" wrap="square" lIns="91425" tIns="91425" rIns="91425" bIns="91425" anchor="t" anchorCtr="0">
            <a:spAutoFit/>
          </a:bodyPr>
          <a:lstStyle/>
          <a:p>
            <a:pPr lvl="0" algn="ctr">
              <a:lnSpc>
                <a:spcPct val="150000"/>
              </a:lnSpc>
            </a:pPr>
            <a:r>
              <a:rPr lang="en-US" sz="2400" b="1" u="sng" dirty="0">
                <a:solidFill>
                  <a:schemeClr val="bg1"/>
                </a:solidFill>
                <a:latin typeface="Aparajita" panose="02020603050405020304" pitchFamily="18" charset="0"/>
                <a:cs typeface="Aparajita" panose="02020603050405020304" pitchFamily="18" charset="0"/>
              </a:rPr>
              <a:t>Group Members</a:t>
            </a:r>
          </a:p>
          <a:p>
            <a:pPr marL="285750" lvl="0" indent="-285750">
              <a:lnSpc>
                <a:spcPct val="150000"/>
              </a:lnSpc>
              <a:buClr>
                <a:schemeClr val="bg1"/>
              </a:buClr>
              <a:buFont typeface="Wingdings" pitchFamily="2" charset="2"/>
              <a:buChar char="Ø"/>
            </a:pPr>
            <a:r>
              <a:rPr lang="en-US" sz="1600" b="1" dirty="0">
                <a:solidFill>
                  <a:schemeClr val="bg1"/>
                </a:solidFill>
                <a:latin typeface="Aparajita" panose="02020603050405020304" pitchFamily="18" charset="0"/>
                <a:cs typeface="Aparajita" panose="02020603050405020304" pitchFamily="18" charset="0"/>
              </a:rPr>
              <a:t>Chaitra S S</a:t>
            </a:r>
          </a:p>
          <a:p>
            <a:pPr marL="285750" lvl="0" indent="-285750">
              <a:lnSpc>
                <a:spcPct val="150000"/>
              </a:lnSpc>
              <a:buClr>
                <a:schemeClr val="bg1"/>
              </a:buClr>
              <a:buFont typeface="Wingdings" pitchFamily="2" charset="2"/>
              <a:buChar char="Ø"/>
            </a:pPr>
            <a:r>
              <a:rPr lang="en-US" sz="1600" b="1" dirty="0">
                <a:solidFill>
                  <a:schemeClr val="bg1"/>
                </a:solidFill>
                <a:latin typeface="Aparajita" panose="02020603050405020304" pitchFamily="18" charset="0"/>
                <a:cs typeface="Aparajita" panose="02020603050405020304" pitchFamily="18" charset="0"/>
              </a:rPr>
              <a:t>Malathi N</a:t>
            </a:r>
          </a:p>
          <a:p>
            <a:pPr marL="285750" lvl="0" indent="-285750">
              <a:lnSpc>
                <a:spcPct val="150000"/>
              </a:lnSpc>
              <a:buClr>
                <a:schemeClr val="bg1"/>
              </a:buClr>
              <a:buFont typeface="Wingdings" pitchFamily="2" charset="2"/>
              <a:buChar char="Ø"/>
            </a:pPr>
            <a:r>
              <a:rPr lang="en-US" sz="1600" b="1" dirty="0">
                <a:solidFill>
                  <a:schemeClr val="bg1"/>
                </a:solidFill>
                <a:latin typeface="Aparajita" panose="02020603050405020304" pitchFamily="18" charset="0"/>
                <a:cs typeface="Aparajita" panose="02020603050405020304" pitchFamily="18" charset="0"/>
              </a:rPr>
              <a:t>Ankitha Pandey</a:t>
            </a:r>
          </a:p>
          <a:p>
            <a:pPr marL="285750" lvl="0" indent="-285750">
              <a:lnSpc>
                <a:spcPct val="150000"/>
              </a:lnSpc>
              <a:buClr>
                <a:schemeClr val="bg1"/>
              </a:buClr>
              <a:buFont typeface="Wingdings" pitchFamily="2" charset="2"/>
              <a:buChar char="Ø"/>
            </a:pPr>
            <a:r>
              <a:rPr lang="en-US" sz="1600" b="1" dirty="0">
                <a:solidFill>
                  <a:schemeClr val="bg1"/>
                </a:solidFill>
                <a:latin typeface="Aparajita" panose="02020603050405020304" pitchFamily="18" charset="0"/>
                <a:cs typeface="Aparajita" panose="02020603050405020304" pitchFamily="18" charset="0"/>
              </a:rPr>
              <a:t>Vinita Pal</a:t>
            </a:r>
          </a:p>
          <a:p>
            <a:pPr marL="285750" lvl="0" indent="-285750">
              <a:lnSpc>
                <a:spcPct val="150000"/>
              </a:lnSpc>
              <a:buClr>
                <a:schemeClr val="bg1"/>
              </a:buClr>
              <a:buFont typeface="Wingdings" pitchFamily="2" charset="2"/>
              <a:buChar char="Ø"/>
            </a:pPr>
            <a:r>
              <a:rPr lang="en-US" sz="1600" b="1" dirty="0">
                <a:solidFill>
                  <a:schemeClr val="bg1"/>
                </a:solidFill>
                <a:latin typeface="Aparajita" panose="02020603050405020304" pitchFamily="18" charset="0"/>
                <a:cs typeface="Aparajita" panose="02020603050405020304" pitchFamily="18" charset="0"/>
              </a:rPr>
              <a:t>Fiza Khan</a:t>
            </a:r>
          </a:p>
          <a:p>
            <a:pPr marL="285750" lvl="0" indent="-285750">
              <a:lnSpc>
                <a:spcPct val="150000"/>
              </a:lnSpc>
              <a:buClr>
                <a:schemeClr val="bg1"/>
              </a:buClr>
              <a:buFont typeface="Wingdings" pitchFamily="2" charset="2"/>
              <a:buChar char="Ø"/>
            </a:pPr>
            <a:r>
              <a:rPr lang="en-US" sz="1600" b="1" dirty="0">
                <a:solidFill>
                  <a:schemeClr val="bg1"/>
                </a:solidFill>
                <a:latin typeface="Aparajita" panose="02020603050405020304" pitchFamily="18" charset="0"/>
                <a:cs typeface="Aparajita" panose="02020603050405020304" pitchFamily="18" charset="0"/>
              </a:rPr>
              <a:t>Surjendu Naskar</a:t>
            </a:r>
          </a:p>
        </p:txBody>
      </p:sp>
      <p:pic>
        <p:nvPicPr>
          <p:cNvPr id="2" name="Picture 1">
            <a:extLst>
              <a:ext uri="{FF2B5EF4-FFF2-40B4-BE49-F238E27FC236}">
                <a16:creationId xmlns:a16="http://schemas.microsoft.com/office/drawing/2014/main" id="{8AFD5C29-3536-BE01-59B6-7743B58EF2C4}"/>
              </a:ext>
            </a:extLst>
          </p:cNvPr>
          <p:cNvPicPr>
            <a:picLocks noChangeAspect="1"/>
          </p:cNvPicPr>
          <p:nvPr/>
        </p:nvPicPr>
        <p:blipFill>
          <a:blip r:embed="rId3"/>
          <a:srcRect l="10961" t="14222" r="9231" b="12776"/>
          <a:stretch>
            <a:fillRect/>
          </a:stretch>
        </p:blipFill>
        <p:spPr>
          <a:xfrm>
            <a:off x="7077555" y="2327910"/>
            <a:ext cx="1867905" cy="187977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588</Words>
  <Application>Microsoft Macintosh PowerPoint</Application>
  <PresentationFormat>On-screen Show (16:9)</PresentationFormat>
  <Paragraphs>70</Paragraphs>
  <Slides>12</Slides>
  <Notes>12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vt:i4>
      </vt:variant>
    </vt:vector>
  </HeadingPairs>
  <TitlesOfParts>
    <vt:vector size="25" baseType="lpstr">
      <vt:lpstr>Aparajita</vt:lpstr>
      <vt:lpstr>Montserrat</vt:lpstr>
      <vt:lpstr>Trebuchet MS</vt:lpstr>
      <vt:lpstr>Montserrat SemiBold</vt:lpstr>
      <vt:lpstr>Tw Cen MT</vt:lpstr>
      <vt:lpstr>Lato</vt:lpstr>
      <vt:lpstr>Wingdings</vt:lpstr>
      <vt:lpstr>Montserrat ExtraBold</vt:lpstr>
      <vt:lpstr>Arial</vt:lpstr>
      <vt:lpstr>Khmer MN</vt:lpstr>
      <vt:lpstr>Impact</vt:lpstr>
      <vt:lpstr>Lexend</vt:lpstr>
      <vt:lpstr>Focus</vt:lpstr>
      <vt:lpstr>Stock Market Analysis</vt:lpstr>
      <vt:lpstr>This project is based on a Stock Market dataset containing details of companies, exchanges, prices, volumes, dividends, categories, traders, and months.  The aim is to understand market capitalization, volatility, performance, sector behavior, and trading patterns using multiple dashboard tools. Data spans multiple companies listed under NASDAQ &amp; NSE, including tech, pharma, banking, and consumer sectors. </vt:lpstr>
      <vt:lpstr>Excel: For static dashboards, price–volume analysis, pivot charts Power BI: For dynamic dashboards, filters, interactive comparisons Tableau: Visual storytelling, trend analysis, sector performance  SQL: Used for joins, price calculations KPIs </vt:lpstr>
      <vt:lpstr>To analyze market capitalization, volatility, and trading performance. To study sector-wise share distribution and dividend distribution. To identify top shareholders, high-volume sectors, and buy-sell trends. To visualize insights using Excel, Power BI, Tableau, and SQL. To provide data-driven recommendations for traders and investors. </vt:lpstr>
      <vt:lpstr>PowerPoint Presentation</vt:lpstr>
      <vt:lpstr>PowerPoint Presentation</vt:lpstr>
      <vt:lpstr>PowerPoint Presentation</vt:lpstr>
      <vt:lpstr>PowerPoint Presentation</vt:lpstr>
      <vt:lpstr>PowerPoint Presentation</vt:lpstr>
      <vt:lpstr>PowerPoint Presentation</vt:lpstr>
      <vt:lpstr>Manager wise total buy and Sell Value and Total_portfolio_returns select manager,count(DISTINCT order_id) as Executed_trade, concat(round(sum(case when side="BUY" then price* Quantity else 0 end)/1000000,2)," ","M")as Total_Buy_Value, concat(round(sum(case when side="SELL" then price* Quantity else 0 end)/1000000,2)," ","M")as Total_Sell_Value, concat(round(sum(price* Quantity)/1000,2)," ","k") as Total_portfolio_return, concat(round(sum(close)/10000,2)," ","M") as Total_current_value From stockanalysis group by manager order by Total_portfolio_return desc;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Redmi Note 7 Pro</dc:creator>
  <cp:lastModifiedBy>Chaitra Sharnarthi</cp:lastModifiedBy>
  <cp:revision>8</cp:revision>
  <dcterms:created xsi:type="dcterms:W3CDTF">2025-11-22T07:42:30Z</dcterms:created>
  <dcterms:modified xsi:type="dcterms:W3CDTF">2026-01-09T10:01:26Z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1570b5c54a8a47acbf79b72b2ddf4bcc</vt:lpwstr>
  </property>
</Properties>
</file>